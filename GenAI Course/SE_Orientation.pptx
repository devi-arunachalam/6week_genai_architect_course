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77" r:id="rId2"/>
    <p:sldId id="278" r:id="rId3"/>
    <p:sldId id="285" r:id="rId4"/>
    <p:sldId id="279" r:id="rId5"/>
    <p:sldId id="280" r:id="rId6"/>
    <p:sldId id="281" r:id="rId7"/>
    <p:sldId id="286" r:id="rId8"/>
    <p:sldId id="283" r:id="rId9"/>
    <p:sldId id="284" r:id="rId10"/>
    <p:sldId id="265" r:id="rId11"/>
    <p:sldId id="287" r:id="rId12"/>
    <p:sldId id="267" r:id="rId13"/>
    <p:sldId id="268" r:id="rId14"/>
    <p:sldId id="269" r:id="rId15"/>
    <p:sldId id="270" r:id="rId16"/>
    <p:sldId id="290" r:id="rId17"/>
    <p:sldId id="291" r:id="rId18"/>
    <p:sldId id="292" r:id="rId19"/>
    <p:sldId id="293" r:id="rId20"/>
    <p:sldId id="29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F2E6F-E6C2-925F-69C9-CCD951CFD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E8446D-9123-021D-AE66-E9F3B389E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09ABC-3831-27C4-7BF0-C3775CC1B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36E40-0653-C543-81F5-158466CEBE1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F0F0D-1B3C-C364-A916-711DFF55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E3C3B-E7FD-9795-6B0A-EB382C01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7D26-3065-534A-B1BF-FC8A2844F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5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CE59-01FB-1030-9DDC-9AADC3280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2BB68-EA92-DA15-B63D-F173FC184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1B4BF-B0F4-35C9-B3E4-F14879AF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36E40-0653-C543-81F5-158466CEBE1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8936A-71CF-DFEC-4008-B25FC7F8E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ED715-E0BB-7653-B561-69C1CAE3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7D26-3065-534A-B1BF-FC8A2844F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3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7A749-AAC8-1935-6CA2-C81AB8372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EC56D-1AEE-EE3D-237C-0E15B61DC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C7E7D-461E-7DC7-1ADB-80F6EFDB5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36E40-0653-C543-81F5-158466CEBE1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9B613-B063-E382-483A-3FCA93FC9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44BBD-D9E9-4BC5-BE03-2D01C7EC5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7D26-3065-534A-B1BF-FC8A2844F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34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E3DD6-2770-3298-FFD0-E1EFE62A2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82332-CBDB-860A-149F-8EC2AE78E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F085C-419A-88ED-3B43-31420E287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A2C66-BCD4-86B8-49AF-A6FE7FF9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36E40-0653-C543-81F5-158466CEBE1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69934-6090-ABBC-B6D4-E1E76F70E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72B961-9E4E-BC95-45EC-95A652926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7D26-3065-534A-B1BF-FC8A2844F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54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24BB9-F119-4F4C-5662-5492D50D5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8DA67-4D38-CF04-B70D-308CC8BD6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9BB3E-639E-B3DB-F93D-A2DF4A075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3B997-D97F-1368-AFD7-FBBAA99B1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979AB4-483E-0403-57B3-DD3C609AF9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9331B9-A137-8280-25D8-FBD797D4F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36E40-0653-C543-81F5-158466CEBE1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42CBCC-EEF6-454A-1A21-F0B3E10E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53804-5B40-DDF8-44B8-F07B567A6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7D26-3065-534A-B1BF-FC8A2844F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1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1C572-1261-3AFD-3AC7-FA6B9F0CD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A588C9-9235-E865-F5BB-A3F7D6007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36E40-0653-C543-81F5-158466CEBE1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7EAFE-F639-ED1F-9AD4-70B94C94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4BE6D0-F307-C8D0-7C62-FC3E4CE80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7D26-3065-534A-B1BF-FC8A2844F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19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AB466A-1874-255F-D513-E917F467F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36E40-0653-C543-81F5-158466CEBE1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F64B8F-AD81-B19A-DCD1-2B45F7EA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239CF-E5A9-CAA1-8275-C8A81EA4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7D26-3065-534A-B1BF-FC8A2844F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27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6D920-D17E-A0C7-449A-06840C172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E0862-29C6-F356-A041-47F330E30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F8FE7-26F8-16EE-30B8-3C5D080D7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811CC-699F-AB12-55B1-C708789D3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36E40-0653-C543-81F5-158466CEBE1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ADF66-FF42-650C-68D0-9CC8C60F1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5C6E7-11DE-FAA7-B97B-41379C7E5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7D26-3065-534A-B1BF-FC8A2844F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56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EFAB5-CA62-CD50-FF67-5C887E18A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D3C385-2299-65B3-BA7E-8712E49C6E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52692-E642-02BC-D8CA-2B5498268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D6F639-BFBD-EFEF-681E-367CFD060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36E40-0653-C543-81F5-158466CEBE1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445DE-BBE9-8537-E4A8-A864A64F9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02117-4D8C-9DA2-ED81-7937D2A01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7D26-3065-534A-B1BF-FC8A2844F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83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17286-F007-8146-76A3-AB31D773E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DE22DE-E570-BFAE-57A1-6F91900BA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A64ED-4999-CB0B-4938-1FBDC7CF8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36E40-0653-C543-81F5-158466CEBE1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D55B2-C9DB-CE9A-F115-713F599CE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199E1-9633-FB67-5524-CD74471A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7D26-3065-534A-B1BF-FC8A2844F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58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5A2B37-93D1-33DE-5942-F2A21B030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C0DF8-1BA6-88D8-7A35-82DA24566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DF8E6-B29C-20EE-C7B2-7D4461F5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36E40-0653-C543-81F5-158466CEBE1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636BF-E3A2-AD4F-2C43-CC01BAE8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C415C-C64A-39FE-F06B-E225F01A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F7D26-3065-534A-B1BF-FC8A2844F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97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011DAF-0EF1-D771-C55C-F061E694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B2E48-525F-A991-B067-457E186C9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8D27D-5197-3CF9-37DA-E7C9F2A53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636E40-0653-C543-81F5-158466CEBE1B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CCB4B-E381-EA6B-FB19-1F93702A0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65541-E8C2-8FBA-406D-23EC8BF71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6F7D26-3065-534A-B1BF-FC8A2844FDC7}" type="slidenum">
              <a:rPr lang="en-US" smtClean="0"/>
              <a:t>‹#›</a:t>
            </a:fld>
            <a:endParaRPr lang="en-US"/>
          </a:p>
        </p:txBody>
      </p:sp>
      <p:sp>
        <p:nvSpPr>
          <p:cNvPr id="9001" name="BrandWedge"/>
          <p:cNvSpPr/>
          <p:nvPr userDrawn="1"/>
        </p:nvSpPr>
        <p:spPr>
          <a:xfrm rot="2700000">
            <a:off x="10500000" y="6200000"/>
            <a:ext cx="2200000" cy="600000"/>
          </a:xfrm>
          <a:prstGeom prst="parallelogram">
            <a:avLst>
              <a:gd name="adj" fmla="val 50000"/>
            </a:avLst>
          </a:prstGeom>
          <a:solidFill>
            <a:srgbClr val="B11E2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2" name="BrandWedge2"/>
          <p:cNvSpPr/>
          <p:nvPr userDrawn="1"/>
        </p:nvSpPr>
        <p:spPr>
          <a:xfrm rot="2700000">
            <a:off x="-400000" y="-200000"/>
            <a:ext cx="1600000" cy="400000"/>
          </a:xfrm>
          <a:prstGeom prst="parallelogram">
            <a:avLst>
              <a:gd name="adj" fmla="val 50000"/>
            </a:avLst>
          </a:prstGeom>
          <a:solidFill>
            <a:srgbClr val="D9303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7536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1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A4A4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A4A4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A4A4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4A4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4A4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4A4A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4A4A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4A4A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A4A4A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E71E41-72C4-8C45-831A-5291133E046D}"/>
              </a:ext>
            </a:extLst>
          </p:cNvPr>
          <p:cNvSpPr txBox="1"/>
          <p:nvPr/>
        </p:nvSpPr>
        <p:spPr>
          <a:xfrm>
            <a:off x="762000" y="1143000"/>
            <a:ext cx="3556000" cy="4572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28000" b="1">
                <a:solidFill>
                  <a:srgbClr val="B11E2F"/>
                </a:solidFill>
                <a:latin typeface="Montserrat"/>
              </a:rP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A1A9D4-4E38-9841-8B7C-F10F8B5E4C00}"/>
              </a:ext>
            </a:extLst>
          </p:cNvPr>
          <p:cNvSpPr txBox="1"/>
          <p:nvPr/>
        </p:nvSpPr>
        <p:spPr>
          <a:xfrm>
            <a:off x="4572000" y="1651000"/>
            <a:ext cx="685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11E2F"/>
                </a:solidFill>
                <a:latin typeface="Montserrat"/>
              </a:rPr>
              <a:t>SOCIAL EAGLE PRESENTS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11DB4C-F2E3-C545-8E85-A3C0F0838F81}"/>
              </a:ext>
            </a:extLst>
          </p:cNvPr>
          <p:cNvSpPr txBox="1"/>
          <p:nvPr/>
        </p:nvSpPr>
        <p:spPr>
          <a:xfrm>
            <a:off x="4572000" y="2095500"/>
            <a:ext cx="7112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600" b="1">
                <a:solidFill>
                  <a:srgbClr val="1A1A1A"/>
                </a:solidFill>
                <a:latin typeface="Montserrat"/>
              </a:rPr>
              <a:t>WEEK GENAI
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69BE6E-9B62-8944-97B7-739E519AFD49}"/>
              </a:ext>
            </a:extLst>
          </p:cNvPr>
          <p:cNvSpPr txBox="1"/>
          <p:nvPr/>
        </p:nvSpPr>
        <p:spPr>
          <a:xfrm>
            <a:off x="4572000" y="4572000"/>
            <a:ext cx="711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4A4A4A"/>
                </a:solidFill>
                <a:latin typeface="Open Sans"/>
                <a:ea typeface="Open Sans"/>
                <a:cs typeface="Open Sans"/>
              </a:rPr>
              <a:t>From Python fundamentals to shipping a MicroSaaS with Claude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1C6C1A-EB63-0B49-A97C-3B4B202FE4D3}"/>
              </a:ext>
            </a:extLst>
          </p:cNvPr>
          <p:cNvSpPr txBox="1"/>
          <p:nvPr/>
        </p:nvSpPr>
        <p:spPr>
          <a:xfrm>
            <a:off x="4572000" y="5397500"/>
            <a:ext cx="7112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 dirty="0">
                <a:solidFill>
                  <a:srgbClr val="D9303F"/>
                </a:solidFill>
              </a:rPr>
              <a:t>6 weeks · 2 offline intensives · daily applied learning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D1C74B-9C8D-A2A2-A138-A0DD7F9CA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152400"/>
            <a:ext cx="889000" cy="85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498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73DF92-5A70-6B48-B5DE-25A15065C6B5}"/>
              </a:ext>
            </a:extLst>
          </p:cNvPr>
          <p:cNvSpPr txBox="1"/>
          <p:nvPr/>
        </p:nvSpPr>
        <p:spPr>
          <a:xfrm>
            <a:off x="635000" y="508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A1A1A"/>
                </a:solidFill>
                <a:latin typeface="Montserrat"/>
              </a:rPr>
              <a:t>Program at a Glance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9D777-05C3-1C4A-9901-19B2865D59D8}"/>
              </a:ext>
            </a:extLst>
          </p:cNvPr>
          <p:cNvSpPr txBox="1"/>
          <p:nvPr/>
        </p:nvSpPr>
        <p:spPr>
          <a:xfrm>
            <a:off x="635000" y="1168400"/>
            <a:ext cx="1092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4A4A4A"/>
                </a:solidFill>
              </a:rPr>
              <a:t>Six weeks of structured curriculum, two offline build sprints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FE483A6-C8EA-DE43-9705-08584800DC28}"/>
              </a:ext>
            </a:extLst>
          </p:cNvPr>
          <p:cNvSpPr/>
          <p:nvPr/>
        </p:nvSpPr>
        <p:spPr>
          <a:xfrm>
            <a:off x="635000" y="1841500"/>
            <a:ext cx="3429000" cy="1651000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E0E0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6C67C-8B0F-5444-99B3-290A5627462F}"/>
              </a:ext>
            </a:extLst>
          </p:cNvPr>
          <p:cNvSpPr txBox="1"/>
          <p:nvPr/>
        </p:nvSpPr>
        <p:spPr>
          <a:xfrm>
            <a:off x="825500" y="19939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B11E2F"/>
                </a:solidFill>
                <a:latin typeface="Montserrat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203818-4133-CE42-9563-0B39377BCF95}"/>
              </a:ext>
            </a:extLst>
          </p:cNvPr>
          <p:cNvSpPr txBox="1"/>
          <p:nvPr/>
        </p:nvSpPr>
        <p:spPr>
          <a:xfrm>
            <a:off x="825500" y="2476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B11E2F"/>
                </a:solidFill>
              </a:rPr>
              <a:t>WEEK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1FB6F-19E7-E74C-BAFF-364005FD19EC}"/>
              </a:ext>
            </a:extLst>
          </p:cNvPr>
          <p:cNvSpPr txBox="1"/>
          <p:nvPr/>
        </p:nvSpPr>
        <p:spPr>
          <a:xfrm>
            <a:off x="1714500" y="2032000"/>
            <a:ext cx="215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  <a:latin typeface="Montserrat"/>
              </a:rPr>
              <a:t>Foundations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6F4E98-99A1-F84D-B69C-6486C10B1263}"/>
              </a:ext>
            </a:extLst>
          </p:cNvPr>
          <p:cNvSpPr txBox="1"/>
          <p:nvPr/>
        </p:nvSpPr>
        <p:spPr>
          <a:xfrm>
            <a:off x="1714500" y="2476500"/>
            <a:ext cx="2159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4A4A4A"/>
                </a:solidFill>
              </a:rPr>
              <a:t>Python · Automation · APIs · Streamlit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20ADB49-C76C-324E-BAFC-A7D6716DCE9E}"/>
              </a:ext>
            </a:extLst>
          </p:cNvPr>
          <p:cNvSpPr/>
          <p:nvPr/>
        </p:nvSpPr>
        <p:spPr>
          <a:xfrm>
            <a:off x="4381500" y="1841500"/>
            <a:ext cx="3429000" cy="1651000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E0E0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5374D4-BAA8-5047-B39B-A1143A01C7D0}"/>
              </a:ext>
            </a:extLst>
          </p:cNvPr>
          <p:cNvSpPr txBox="1"/>
          <p:nvPr/>
        </p:nvSpPr>
        <p:spPr>
          <a:xfrm>
            <a:off x="4572000" y="19939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B11E2F"/>
                </a:solidFill>
                <a:latin typeface="Montserrat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3172A4-0CA0-ED4D-8095-81DA0E699965}"/>
              </a:ext>
            </a:extLst>
          </p:cNvPr>
          <p:cNvSpPr txBox="1"/>
          <p:nvPr/>
        </p:nvSpPr>
        <p:spPr>
          <a:xfrm>
            <a:off x="4572000" y="2476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B11E2F"/>
                </a:solidFill>
              </a:rPr>
              <a:t>WEEK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E78FCB-08BB-0F4A-B4F5-F8E4BEC61D04}"/>
              </a:ext>
            </a:extLst>
          </p:cNvPr>
          <p:cNvSpPr txBox="1"/>
          <p:nvPr/>
        </p:nvSpPr>
        <p:spPr>
          <a:xfrm>
            <a:off x="5461000" y="2032000"/>
            <a:ext cx="215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  <a:latin typeface="Montserrat"/>
              </a:rPr>
              <a:t>GenAI Core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0E2CFA-B5EB-0547-B1A9-4EC253475E5B}"/>
              </a:ext>
            </a:extLst>
          </p:cNvPr>
          <p:cNvSpPr txBox="1"/>
          <p:nvPr/>
        </p:nvSpPr>
        <p:spPr>
          <a:xfrm>
            <a:off x="5461000" y="2476500"/>
            <a:ext cx="2159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4A4A4A"/>
                </a:solidFill>
              </a:rPr>
              <a:t>Tools · Prompting · LangChain · RAG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C80DEF4-DEF7-C44F-A610-F1F2321D6567}"/>
              </a:ext>
            </a:extLst>
          </p:cNvPr>
          <p:cNvSpPr/>
          <p:nvPr/>
        </p:nvSpPr>
        <p:spPr>
          <a:xfrm>
            <a:off x="8128000" y="1841500"/>
            <a:ext cx="3429000" cy="1651000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E0E0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AE871D-18CA-D248-9F05-4DA877ED5A7F}"/>
              </a:ext>
            </a:extLst>
          </p:cNvPr>
          <p:cNvSpPr txBox="1"/>
          <p:nvPr/>
        </p:nvSpPr>
        <p:spPr>
          <a:xfrm>
            <a:off x="8318500" y="19939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B11E2F"/>
                </a:solidFill>
                <a:latin typeface="Montserrat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8F4A96-9082-964B-8532-A7A45EFCCBA2}"/>
              </a:ext>
            </a:extLst>
          </p:cNvPr>
          <p:cNvSpPr txBox="1"/>
          <p:nvPr/>
        </p:nvSpPr>
        <p:spPr>
          <a:xfrm>
            <a:off x="8318500" y="2476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B11E2F"/>
                </a:solidFill>
              </a:rPr>
              <a:t>WEEK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EAB66A-FEC0-8649-8A34-5F9FC73FD0F7}"/>
              </a:ext>
            </a:extLst>
          </p:cNvPr>
          <p:cNvSpPr txBox="1"/>
          <p:nvPr/>
        </p:nvSpPr>
        <p:spPr>
          <a:xfrm>
            <a:off x="9207500" y="2032000"/>
            <a:ext cx="215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  <a:latin typeface="Montserrat"/>
              </a:rPr>
              <a:t>Advanced RAG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6E9EAB-E9B6-0144-8219-D36AC58C200A}"/>
              </a:ext>
            </a:extLst>
          </p:cNvPr>
          <p:cNvSpPr txBox="1"/>
          <p:nvPr/>
        </p:nvSpPr>
        <p:spPr>
          <a:xfrm>
            <a:off x="9207500" y="2476500"/>
            <a:ext cx="2159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4A4A4A"/>
                </a:solidFill>
              </a:rPr>
              <a:t>KG RAG · Guardrails · Assignment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E2C383D-DF8F-FC4F-A970-B6851978A302}"/>
              </a:ext>
            </a:extLst>
          </p:cNvPr>
          <p:cNvSpPr/>
          <p:nvPr/>
        </p:nvSpPr>
        <p:spPr>
          <a:xfrm>
            <a:off x="635000" y="3746500"/>
            <a:ext cx="3429000" cy="1651000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E0E0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9482B9-17E7-B945-A99B-4DCC75D583D8}"/>
              </a:ext>
            </a:extLst>
          </p:cNvPr>
          <p:cNvSpPr txBox="1"/>
          <p:nvPr/>
        </p:nvSpPr>
        <p:spPr>
          <a:xfrm>
            <a:off x="825500" y="38989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B11E2F"/>
                </a:solidFill>
                <a:latin typeface="Montserrat"/>
              </a:rPr>
              <a:t>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A12A2C-3D0C-654D-9C48-01C69AFFBD72}"/>
              </a:ext>
            </a:extLst>
          </p:cNvPr>
          <p:cNvSpPr txBox="1"/>
          <p:nvPr/>
        </p:nvSpPr>
        <p:spPr>
          <a:xfrm>
            <a:off x="825500" y="4381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B11E2F"/>
                </a:solidFill>
              </a:rPr>
              <a:t>WEEK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9329A8-1EF0-1448-A920-412A9F2C0E0A}"/>
              </a:ext>
            </a:extLst>
          </p:cNvPr>
          <p:cNvSpPr txBox="1"/>
          <p:nvPr/>
        </p:nvSpPr>
        <p:spPr>
          <a:xfrm>
            <a:off x="1714500" y="3937000"/>
            <a:ext cx="215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  <a:latin typeface="Montserrat"/>
              </a:rPr>
              <a:t>AI Agents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C28619-E779-BD46-B9E6-F81B8BDF92ED}"/>
              </a:ext>
            </a:extLst>
          </p:cNvPr>
          <p:cNvSpPr txBox="1"/>
          <p:nvPr/>
        </p:nvSpPr>
        <p:spPr>
          <a:xfrm>
            <a:off x="1714500" y="4381500"/>
            <a:ext cx="2159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4A4A4A"/>
                </a:solidFill>
              </a:rPr>
              <a:t>Automation · Agents · MCP (No-Code)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5AD6424-5118-7A49-80F4-9FE4E2B7D736}"/>
              </a:ext>
            </a:extLst>
          </p:cNvPr>
          <p:cNvSpPr/>
          <p:nvPr/>
        </p:nvSpPr>
        <p:spPr>
          <a:xfrm>
            <a:off x="4381500" y="3746500"/>
            <a:ext cx="3429000" cy="1651000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E0E0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D6AB16-CF21-FF45-9D1A-35D471081FC6}"/>
              </a:ext>
            </a:extLst>
          </p:cNvPr>
          <p:cNvSpPr txBox="1"/>
          <p:nvPr/>
        </p:nvSpPr>
        <p:spPr>
          <a:xfrm>
            <a:off x="4572000" y="38989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B11E2F"/>
                </a:solidFill>
                <a:latin typeface="Montserrat"/>
              </a:rPr>
              <a:t>05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41A178-B0EE-FD4E-9320-FF0EF5F9807B}"/>
              </a:ext>
            </a:extLst>
          </p:cNvPr>
          <p:cNvSpPr txBox="1"/>
          <p:nvPr/>
        </p:nvSpPr>
        <p:spPr>
          <a:xfrm>
            <a:off x="4572000" y="4381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B11E2F"/>
                </a:solidFill>
              </a:rPr>
              <a:t>WEEK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760F46-AEB3-EC45-8652-2AEE06FD35C6}"/>
              </a:ext>
            </a:extLst>
          </p:cNvPr>
          <p:cNvSpPr txBox="1"/>
          <p:nvPr/>
        </p:nvSpPr>
        <p:spPr>
          <a:xfrm>
            <a:off x="5461000" y="3937000"/>
            <a:ext cx="215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  <a:latin typeface="Montserrat"/>
              </a:rPr>
              <a:t>Voice &amp; Agentic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7100F6-3D9E-9B41-B2DC-13CEAFCA781E}"/>
              </a:ext>
            </a:extLst>
          </p:cNvPr>
          <p:cNvSpPr txBox="1"/>
          <p:nvPr/>
        </p:nvSpPr>
        <p:spPr>
          <a:xfrm>
            <a:off x="5461000" y="4381500"/>
            <a:ext cx="2159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4A4A4A"/>
                </a:solidFill>
              </a:rPr>
              <a:t>LiveKit Voice · Autogen Framework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11DA7B6-8D61-214E-BBAB-72B5882065BB}"/>
              </a:ext>
            </a:extLst>
          </p:cNvPr>
          <p:cNvSpPr/>
          <p:nvPr/>
        </p:nvSpPr>
        <p:spPr>
          <a:xfrm>
            <a:off x="8128000" y="3746500"/>
            <a:ext cx="3429000" cy="1651000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E0E0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C5C5F5-48CE-DA44-B13B-C7C6037679EE}"/>
              </a:ext>
            </a:extLst>
          </p:cNvPr>
          <p:cNvSpPr txBox="1"/>
          <p:nvPr/>
        </p:nvSpPr>
        <p:spPr>
          <a:xfrm>
            <a:off x="8318500" y="3898900"/>
            <a:ext cx="762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B11E2F"/>
                </a:solidFill>
                <a:latin typeface="Montserrat"/>
              </a:rPr>
              <a:t>06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8E6521-90CE-064D-9EDD-6487F64C429E}"/>
              </a:ext>
            </a:extLst>
          </p:cNvPr>
          <p:cNvSpPr txBox="1"/>
          <p:nvPr/>
        </p:nvSpPr>
        <p:spPr>
          <a:xfrm>
            <a:off x="8318500" y="43815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b="1">
                <a:solidFill>
                  <a:srgbClr val="B11E2F"/>
                </a:solidFill>
              </a:rPr>
              <a:t>WEEK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4EA2DD-3F09-1945-9985-24A7D6C7B5C1}"/>
              </a:ext>
            </a:extLst>
          </p:cNvPr>
          <p:cNvSpPr txBox="1"/>
          <p:nvPr/>
        </p:nvSpPr>
        <p:spPr>
          <a:xfrm>
            <a:off x="9207500" y="3937000"/>
            <a:ext cx="215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  <a:latin typeface="Montserrat"/>
              </a:rPr>
              <a:t>Production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B18EA8-BF97-C74D-95BF-BC432BBBDBAF}"/>
              </a:ext>
            </a:extLst>
          </p:cNvPr>
          <p:cNvSpPr txBox="1"/>
          <p:nvPr/>
        </p:nvSpPr>
        <p:spPr>
          <a:xfrm>
            <a:off x="9207500" y="4381500"/>
            <a:ext cx="2159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4A4A4A"/>
                </a:solidFill>
              </a:rPr>
              <a:t>Fine-Tuning · Openclaw Setup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5C55EC9-12F7-C559-09EC-73064D564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278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C436AD-163D-664B-B44C-FBF20A55BCF1}"/>
              </a:ext>
            </a:extLst>
          </p:cNvPr>
          <p:cNvSpPr txBox="1"/>
          <p:nvPr/>
        </p:nvSpPr>
        <p:spPr>
          <a:xfrm>
            <a:off x="762000" y="889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11E2F"/>
                </a:solidFill>
                <a:latin typeface="Montserrat"/>
              </a:rPr>
              <a:t>WHAT YOU'LL MASTER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7C045-DEAD-464F-8D42-7CFC238DD5CD}"/>
              </a:ext>
            </a:extLst>
          </p:cNvPr>
          <p:cNvSpPr txBox="1"/>
          <p:nvPr/>
        </p:nvSpPr>
        <p:spPr>
          <a:xfrm>
            <a:off x="762000" y="1270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1A1A1A"/>
                </a:solidFill>
                <a:latin typeface="Montserrat"/>
              </a:rPr>
              <a:t>5 Things You'll Master in GenAI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B9FC37-E429-AF40-AE59-EBB58BC2D4BF}"/>
              </a:ext>
            </a:extLst>
          </p:cNvPr>
          <p:cNvSpPr/>
          <p:nvPr/>
        </p:nvSpPr>
        <p:spPr>
          <a:xfrm>
            <a:off x="762000" y="2006600"/>
            <a:ext cx="1016000" cy="508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9FBB7B-0E7E-C34A-907A-0F3B4A3390D3}"/>
              </a:ext>
            </a:extLst>
          </p:cNvPr>
          <p:cNvSpPr/>
          <p:nvPr/>
        </p:nvSpPr>
        <p:spPr>
          <a:xfrm>
            <a:off x="457200" y="2667000"/>
            <a:ext cx="2133600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0E0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227042-9029-F940-96A4-7F39B81D899E}"/>
              </a:ext>
            </a:extLst>
          </p:cNvPr>
          <p:cNvSpPr/>
          <p:nvPr/>
        </p:nvSpPr>
        <p:spPr>
          <a:xfrm>
            <a:off x="457200" y="2667000"/>
            <a:ext cx="2133600" cy="762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C92504-863E-D64B-A177-4CC71A29DC47}"/>
              </a:ext>
            </a:extLst>
          </p:cNvPr>
          <p:cNvSpPr txBox="1"/>
          <p:nvPr/>
        </p:nvSpPr>
        <p:spPr>
          <a:xfrm>
            <a:off x="660400" y="2971800"/>
            <a:ext cx="17272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5600" b="1">
                <a:solidFill>
                  <a:srgbClr val="B11E2F"/>
                </a:solidFill>
                <a:latin typeface="Montserrat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2C806F-2300-1240-B7AD-859F4BE30FF3}"/>
              </a:ext>
            </a:extLst>
          </p:cNvPr>
          <p:cNvSpPr/>
          <p:nvPr/>
        </p:nvSpPr>
        <p:spPr>
          <a:xfrm>
            <a:off x="711200" y="4000500"/>
            <a:ext cx="406400" cy="254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90CDAA-2D63-154F-B771-98091176332B}"/>
              </a:ext>
            </a:extLst>
          </p:cNvPr>
          <p:cNvSpPr txBox="1"/>
          <p:nvPr/>
        </p:nvSpPr>
        <p:spPr>
          <a:xfrm>
            <a:off x="660400" y="4191000"/>
            <a:ext cx="17272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  <a:latin typeface="Open Sans"/>
                <a:ea typeface="Open Sans"/>
                <a:cs typeface="Open Sans"/>
              </a:rPr>
              <a:t>GenAI Application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2A1CEE-B12E-104C-B9E7-12A9E280E490}"/>
              </a:ext>
            </a:extLst>
          </p:cNvPr>
          <p:cNvSpPr/>
          <p:nvPr/>
        </p:nvSpPr>
        <p:spPr>
          <a:xfrm>
            <a:off x="2743200" y="2667000"/>
            <a:ext cx="2133600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0E0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6228FC-A575-444B-AC4C-15DEB08B5B5A}"/>
              </a:ext>
            </a:extLst>
          </p:cNvPr>
          <p:cNvSpPr/>
          <p:nvPr/>
        </p:nvSpPr>
        <p:spPr>
          <a:xfrm>
            <a:off x="2743200" y="2667000"/>
            <a:ext cx="2133600" cy="762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975604-CDFF-A545-98C7-FBCB0077EA61}"/>
              </a:ext>
            </a:extLst>
          </p:cNvPr>
          <p:cNvSpPr txBox="1"/>
          <p:nvPr/>
        </p:nvSpPr>
        <p:spPr>
          <a:xfrm>
            <a:off x="2946400" y="2971800"/>
            <a:ext cx="17272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5600" b="1">
                <a:solidFill>
                  <a:srgbClr val="B11E2F"/>
                </a:solidFill>
                <a:latin typeface="Montserrat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4EEC3B-63B5-8544-B533-2F403A516034}"/>
              </a:ext>
            </a:extLst>
          </p:cNvPr>
          <p:cNvSpPr/>
          <p:nvPr/>
        </p:nvSpPr>
        <p:spPr>
          <a:xfrm>
            <a:off x="2997200" y="4000500"/>
            <a:ext cx="406400" cy="254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744DD0-07B2-7947-9984-5C8A99565B3B}"/>
              </a:ext>
            </a:extLst>
          </p:cNvPr>
          <p:cNvSpPr txBox="1"/>
          <p:nvPr/>
        </p:nvSpPr>
        <p:spPr>
          <a:xfrm>
            <a:off x="2946400" y="4191000"/>
            <a:ext cx="17272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  <a:latin typeface="Open Sans"/>
                <a:ea typeface="Open Sans"/>
                <a:cs typeface="Open Sans"/>
              </a:rPr>
              <a:t>AI Automation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0AFAA8-EF7B-9041-A906-D660EA8C4642}"/>
              </a:ext>
            </a:extLst>
          </p:cNvPr>
          <p:cNvSpPr/>
          <p:nvPr/>
        </p:nvSpPr>
        <p:spPr>
          <a:xfrm>
            <a:off x="5029200" y="2667000"/>
            <a:ext cx="2133600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0E0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96BB96-1203-A242-A840-76AE1B75D46E}"/>
              </a:ext>
            </a:extLst>
          </p:cNvPr>
          <p:cNvSpPr/>
          <p:nvPr/>
        </p:nvSpPr>
        <p:spPr>
          <a:xfrm>
            <a:off x="5029200" y="2667000"/>
            <a:ext cx="2133600" cy="762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3F9AF2-2A6A-D343-83E7-DB15A0CFAA4D}"/>
              </a:ext>
            </a:extLst>
          </p:cNvPr>
          <p:cNvSpPr txBox="1"/>
          <p:nvPr/>
        </p:nvSpPr>
        <p:spPr>
          <a:xfrm>
            <a:off x="5232400" y="2971800"/>
            <a:ext cx="17272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5600" b="1">
                <a:solidFill>
                  <a:srgbClr val="B11E2F"/>
                </a:solidFill>
                <a:latin typeface="Montserrat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B9A4DC-9797-5046-A4AD-52A75F7D840C}"/>
              </a:ext>
            </a:extLst>
          </p:cNvPr>
          <p:cNvSpPr/>
          <p:nvPr/>
        </p:nvSpPr>
        <p:spPr>
          <a:xfrm>
            <a:off x="5283200" y="4000500"/>
            <a:ext cx="406400" cy="254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F186AA-CE0E-A649-ABEA-7893BA4EEB8B}"/>
              </a:ext>
            </a:extLst>
          </p:cNvPr>
          <p:cNvSpPr txBox="1"/>
          <p:nvPr/>
        </p:nvSpPr>
        <p:spPr>
          <a:xfrm>
            <a:off x="5232400" y="4191000"/>
            <a:ext cx="17272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  <a:latin typeface="Open Sans"/>
                <a:ea typeface="Open Sans"/>
                <a:cs typeface="Open Sans"/>
              </a:rPr>
              <a:t>AI Agents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C27FDF-B580-E943-8CDF-5CF88B3EFA40}"/>
              </a:ext>
            </a:extLst>
          </p:cNvPr>
          <p:cNvSpPr/>
          <p:nvPr/>
        </p:nvSpPr>
        <p:spPr>
          <a:xfrm>
            <a:off x="7315200" y="2667000"/>
            <a:ext cx="2133600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0E0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7D9FF6-2618-3245-BBB0-0E15DC0FC019}"/>
              </a:ext>
            </a:extLst>
          </p:cNvPr>
          <p:cNvSpPr/>
          <p:nvPr/>
        </p:nvSpPr>
        <p:spPr>
          <a:xfrm>
            <a:off x="7315200" y="2667000"/>
            <a:ext cx="2133600" cy="762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42F830-A005-0643-8C21-174D9C375065}"/>
              </a:ext>
            </a:extLst>
          </p:cNvPr>
          <p:cNvSpPr txBox="1"/>
          <p:nvPr/>
        </p:nvSpPr>
        <p:spPr>
          <a:xfrm>
            <a:off x="7518400" y="2971800"/>
            <a:ext cx="17272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5600" b="1">
                <a:solidFill>
                  <a:srgbClr val="B11E2F"/>
                </a:solidFill>
                <a:latin typeface="Montserrat"/>
              </a:rPr>
              <a:t>04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6FE21B-2807-1C4F-9956-34B987D8889C}"/>
              </a:ext>
            </a:extLst>
          </p:cNvPr>
          <p:cNvSpPr/>
          <p:nvPr/>
        </p:nvSpPr>
        <p:spPr>
          <a:xfrm>
            <a:off x="7569200" y="4000500"/>
            <a:ext cx="406400" cy="254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8725A7-A754-2547-BB16-0B652ED50804}"/>
              </a:ext>
            </a:extLst>
          </p:cNvPr>
          <p:cNvSpPr txBox="1"/>
          <p:nvPr/>
        </p:nvSpPr>
        <p:spPr>
          <a:xfrm>
            <a:off x="7518400" y="4191000"/>
            <a:ext cx="17272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  <a:latin typeface="Open Sans"/>
                <a:ea typeface="Open Sans"/>
                <a:cs typeface="Open Sans"/>
              </a:rPr>
              <a:t>Agentic AI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8696CA-E6EA-3D49-9942-98C96A22FEE6}"/>
              </a:ext>
            </a:extLst>
          </p:cNvPr>
          <p:cNvSpPr/>
          <p:nvPr/>
        </p:nvSpPr>
        <p:spPr>
          <a:xfrm>
            <a:off x="9601200" y="2667000"/>
            <a:ext cx="2133600" cy="3048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E0E0E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E5D085-3FAA-3545-8F28-054F37019650}"/>
              </a:ext>
            </a:extLst>
          </p:cNvPr>
          <p:cNvSpPr/>
          <p:nvPr/>
        </p:nvSpPr>
        <p:spPr>
          <a:xfrm>
            <a:off x="9601200" y="2667000"/>
            <a:ext cx="2133600" cy="762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F180E2-D694-ED45-BB60-5634A5AD9669}"/>
              </a:ext>
            </a:extLst>
          </p:cNvPr>
          <p:cNvSpPr txBox="1"/>
          <p:nvPr/>
        </p:nvSpPr>
        <p:spPr>
          <a:xfrm>
            <a:off x="9804400" y="2971800"/>
            <a:ext cx="17272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5600" b="1">
                <a:solidFill>
                  <a:srgbClr val="B11E2F"/>
                </a:solidFill>
                <a:latin typeface="Montserrat"/>
              </a:rPr>
              <a:t>05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A2DB9F-EEA2-CA40-B666-38A99C9CCAAF}"/>
              </a:ext>
            </a:extLst>
          </p:cNvPr>
          <p:cNvSpPr/>
          <p:nvPr/>
        </p:nvSpPr>
        <p:spPr>
          <a:xfrm>
            <a:off x="9855200" y="4000500"/>
            <a:ext cx="406400" cy="254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056317-609D-7D45-A8E6-6EF23300CB07}"/>
              </a:ext>
            </a:extLst>
          </p:cNvPr>
          <p:cNvSpPr txBox="1"/>
          <p:nvPr/>
        </p:nvSpPr>
        <p:spPr>
          <a:xfrm>
            <a:off x="9804400" y="4191000"/>
            <a:ext cx="1727200" cy="1270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  <a:latin typeface="Open Sans"/>
                <a:ea typeface="Open Sans"/>
                <a:cs typeface="Open Sans"/>
              </a:rPr>
              <a:t>MicroSaaS &amp; Tool Development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3E69E67-1531-CB68-97B7-A78E5FB95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69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215DA9-33CC-D846-84DA-B1E988325D7F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A7F795-FE2F-384E-A714-C80D4E1C7AE5}"/>
              </a:ext>
            </a:extLst>
          </p:cNvPr>
          <p:cNvSpPr txBox="1"/>
          <p:nvPr/>
        </p:nvSpPr>
        <p:spPr>
          <a:xfrm>
            <a:off x="635000" y="21590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Montserrat"/>
              </a:rPr>
              <a:t>WEEK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A54B8D-52B1-1F4C-AF74-3C6058CD98FE}"/>
              </a:ext>
            </a:extLst>
          </p:cNvPr>
          <p:cNvSpPr txBox="1"/>
          <p:nvPr/>
        </p:nvSpPr>
        <p:spPr>
          <a:xfrm>
            <a:off x="635000" y="2794000"/>
            <a:ext cx="2794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A3CDC7-6BC1-8E43-81E0-E4D7DCD13A24}"/>
              </a:ext>
            </a:extLst>
          </p:cNvPr>
          <p:cNvSpPr txBox="1"/>
          <p:nvPr/>
        </p:nvSpPr>
        <p:spPr>
          <a:xfrm>
            <a:off x="4572000" y="1016000"/>
            <a:ext cx="711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1A1A1A"/>
                </a:solidFill>
                <a:latin typeface="Montserrat"/>
              </a:rPr>
              <a:t>Foundations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78978F-2AB5-2944-961A-056EE2D83241}"/>
              </a:ext>
            </a:extLst>
          </p:cNvPr>
          <p:cNvSpPr txBox="1"/>
          <p:nvPr/>
        </p:nvSpPr>
        <p:spPr>
          <a:xfrm>
            <a:off x="4572000" y="1676400"/>
            <a:ext cx="711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B11E2F"/>
                </a:solidFill>
              </a:rPr>
              <a:t>Building blocks for everything that comes next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95E2B06-CFAD-ED42-903C-9800CDF805B8}"/>
              </a:ext>
            </a:extLst>
          </p:cNvPr>
          <p:cNvSpPr/>
          <p:nvPr/>
        </p:nvSpPr>
        <p:spPr>
          <a:xfrm>
            <a:off x="4572000" y="2451100"/>
            <a:ext cx="152400" cy="152400"/>
          </a:xfrm>
          <a:prstGeom prst="ellipse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A0525E-8A4F-F041-BBF0-3A4040EDD0DB}"/>
              </a:ext>
            </a:extLst>
          </p:cNvPr>
          <p:cNvSpPr txBox="1"/>
          <p:nvPr/>
        </p:nvSpPr>
        <p:spPr>
          <a:xfrm>
            <a:off x="4889500" y="23495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Python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00792-6210-FF4F-AFB7-A0DAED519CA3}"/>
              </a:ext>
            </a:extLst>
          </p:cNvPr>
          <p:cNvSpPr txBox="1"/>
          <p:nvPr/>
        </p:nvSpPr>
        <p:spPr>
          <a:xfrm>
            <a:off x="7493000" y="2374900"/>
            <a:ext cx="419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Core language fluency for AI workflows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871962D-2D32-E140-9B5A-A52B9B4096CD}"/>
              </a:ext>
            </a:extLst>
          </p:cNvPr>
          <p:cNvSpPr/>
          <p:nvPr/>
        </p:nvSpPr>
        <p:spPr>
          <a:xfrm>
            <a:off x="4572000" y="3213100"/>
            <a:ext cx="152400" cy="152400"/>
          </a:xfrm>
          <a:prstGeom prst="ellipse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B3B870-8DAE-BE4B-ABDE-37AF52614B31}"/>
              </a:ext>
            </a:extLst>
          </p:cNvPr>
          <p:cNvSpPr txBox="1"/>
          <p:nvPr/>
        </p:nvSpPr>
        <p:spPr>
          <a:xfrm>
            <a:off x="4889500" y="31115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Automation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6BE21B-4FD1-4042-805A-5AF65275FE3D}"/>
              </a:ext>
            </a:extLst>
          </p:cNvPr>
          <p:cNvSpPr txBox="1"/>
          <p:nvPr/>
        </p:nvSpPr>
        <p:spPr>
          <a:xfrm>
            <a:off x="7493000" y="3136900"/>
            <a:ext cx="419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Scripting repeatable tasks end-to-end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BFB8E1-E0A8-B141-8E19-0264CDF46664}"/>
              </a:ext>
            </a:extLst>
          </p:cNvPr>
          <p:cNvSpPr/>
          <p:nvPr/>
        </p:nvSpPr>
        <p:spPr>
          <a:xfrm>
            <a:off x="4572000" y="3975100"/>
            <a:ext cx="152400" cy="152400"/>
          </a:xfrm>
          <a:prstGeom prst="ellipse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01ADFB-C00C-CE48-B310-498269B3D628}"/>
              </a:ext>
            </a:extLst>
          </p:cNvPr>
          <p:cNvSpPr txBox="1"/>
          <p:nvPr/>
        </p:nvSpPr>
        <p:spPr>
          <a:xfrm>
            <a:off x="4889500" y="38735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APIs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321F8C-8656-0D4B-AE94-459A2B421E6C}"/>
              </a:ext>
            </a:extLst>
          </p:cNvPr>
          <p:cNvSpPr txBox="1"/>
          <p:nvPr/>
        </p:nvSpPr>
        <p:spPr>
          <a:xfrm>
            <a:off x="7493000" y="3898900"/>
            <a:ext cx="419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Connecting and consuming external services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EC259D4-B473-5242-A72E-508A36D26415}"/>
              </a:ext>
            </a:extLst>
          </p:cNvPr>
          <p:cNvSpPr/>
          <p:nvPr/>
        </p:nvSpPr>
        <p:spPr>
          <a:xfrm>
            <a:off x="4572000" y="4737100"/>
            <a:ext cx="152400" cy="152400"/>
          </a:xfrm>
          <a:prstGeom prst="ellipse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251009-5905-DD40-8F94-796568806C7B}"/>
              </a:ext>
            </a:extLst>
          </p:cNvPr>
          <p:cNvSpPr txBox="1"/>
          <p:nvPr/>
        </p:nvSpPr>
        <p:spPr>
          <a:xfrm>
            <a:off x="4889500" y="46355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Streamlit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2905D9-5B59-0244-987E-00B8EEC6A945}"/>
              </a:ext>
            </a:extLst>
          </p:cNvPr>
          <p:cNvSpPr txBox="1"/>
          <p:nvPr/>
        </p:nvSpPr>
        <p:spPr>
          <a:xfrm>
            <a:off x="7493000" y="4660900"/>
            <a:ext cx="419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Shipping interactive apps fast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F77A390-1F20-4172-74E5-05E3A97F0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657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17744C-EE9A-FA42-B9C2-179A8F127CE9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D930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0AAC9-84E9-7F41-BBF7-85FA6F9EBE48}"/>
              </a:ext>
            </a:extLst>
          </p:cNvPr>
          <p:cNvSpPr txBox="1"/>
          <p:nvPr/>
        </p:nvSpPr>
        <p:spPr>
          <a:xfrm>
            <a:off x="635000" y="21590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Montserrat"/>
              </a:rPr>
              <a:t>WEEK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2D8757-BE9C-9D4D-843E-E550ED221915}"/>
              </a:ext>
            </a:extLst>
          </p:cNvPr>
          <p:cNvSpPr txBox="1"/>
          <p:nvPr/>
        </p:nvSpPr>
        <p:spPr>
          <a:xfrm>
            <a:off x="635000" y="2794000"/>
            <a:ext cx="2794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0E9FB-677B-E740-8D03-7CF2E62ECAA0}"/>
              </a:ext>
            </a:extLst>
          </p:cNvPr>
          <p:cNvSpPr txBox="1"/>
          <p:nvPr/>
        </p:nvSpPr>
        <p:spPr>
          <a:xfrm>
            <a:off x="4572000" y="1016000"/>
            <a:ext cx="711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1A1A1A"/>
                </a:solidFill>
                <a:latin typeface="Montserrat"/>
              </a:rPr>
              <a:t>GenAI 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F0547E-F5C6-034C-9AF0-A226F10A211C}"/>
              </a:ext>
            </a:extLst>
          </p:cNvPr>
          <p:cNvSpPr txBox="1"/>
          <p:nvPr/>
        </p:nvSpPr>
        <p:spPr>
          <a:xfrm>
            <a:off x="4572000" y="1676400"/>
            <a:ext cx="711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B11E2F"/>
                </a:solidFill>
              </a:rPr>
              <a:t>Where the GenAI stack actually clicks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085EB8-E96E-394B-97C5-4372AF5459B1}"/>
              </a:ext>
            </a:extLst>
          </p:cNvPr>
          <p:cNvSpPr/>
          <p:nvPr/>
        </p:nvSpPr>
        <p:spPr>
          <a:xfrm>
            <a:off x="4572000" y="2451100"/>
            <a:ext cx="152400" cy="152400"/>
          </a:xfrm>
          <a:prstGeom prst="ellipse">
            <a:avLst/>
          </a:prstGeom>
          <a:solidFill>
            <a:srgbClr val="D930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07F721-65F4-FA4D-B516-A339A7FDFCB9}"/>
              </a:ext>
            </a:extLst>
          </p:cNvPr>
          <p:cNvSpPr txBox="1"/>
          <p:nvPr/>
        </p:nvSpPr>
        <p:spPr>
          <a:xfrm>
            <a:off x="4889500" y="2349500"/>
            <a:ext cx="279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Intro to GenAI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4B6AA8-775D-5944-ADEF-CBFBA223B52A}"/>
              </a:ext>
            </a:extLst>
          </p:cNvPr>
          <p:cNvSpPr txBox="1"/>
          <p:nvPr/>
        </p:nvSpPr>
        <p:spPr>
          <a:xfrm>
            <a:off x="7747000" y="2374900"/>
            <a:ext cx="393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Concepts, models, ecosystem landscape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D849276-D5AC-1844-9738-EA262D4E9AD8}"/>
              </a:ext>
            </a:extLst>
          </p:cNvPr>
          <p:cNvSpPr/>
          <p:nvPr/>
        </p:nvSpPr>
        <p:spPr>
          <a:xfrm>
            <a:off x="4572000" y="3213100"/>
            <a:ext cx="152400" cy="152400"/>
          </a:xfrm>
          <a:prstGeom prst="ellipse">
            <a:avLst/>
          </a:prstGeom>
          <a:solidFill>
            <a:srgbClr val="D930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26EEF7-C0CF-AD4A-B95A-091535CB089F}"/>
              </a:ext>
            </a:extLst>
          </p:cNvPr>
          <p:cNvSpPr txBox="1"/>
          <p:nvPr/>
        </p:nvSpPr>
        <p:spPr>
          <a:xfrm>
            <a:off x="4889500" y="3111500"/>
            <a:ext cx="279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GenAI Tools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281D26-6CB0-1D47-A845-B8C02AE12E6D}"/>
              </a:ext>
            </a:extLst>
          </p:cNvPr>
          <p:cNvSpPr txBox="1"/>
          <p:nvPr/>
        </p:nvSpPr>
        <p:spPr>
          <a:xfrm>
            <a:off x="7747000" y="3136900"/>
            <a:ext cx="393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Hands-on with the leading platforms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362869E-9C1C-2C45-B72D-604A16BA879F}"/>
              </a:ext>
            </a:extLst>
          </p:cNvPr>
          <p:cNvSpPr/>
          <p:nvPr/>
        </p:nvSpPr>
        <p:spPr>
          <a:xfrm>
            <a:off x="4572000" y="3975100"/>
            <a:ext cx="152400" cy="152400"/>
          </a:xfrm>
          <a:prstGeom prst="ellipse">
            <a:avLst/>
          </a:prstGeom>
          <a:solidFill>
            <a:srgbClr val="D930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B8EC00-6FEA-ED42-A04F-5C0F11698D74}"/>
              </a:ext>
            </a:extLst>
          </p:cNvPr>
          <p:cNvSpPr txBox="1"/>
          <p:nvPr/>
        </p:nvSpPr>
        <p:spPr>
          <a:xfrm>
            <a:off x="4889500" y="3873500"/>
            <a:ext cx="279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Prompt Methods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3130CD-CF11-5C47-90D3-390E20B535AC}"/>
              </a:ext>
            </a:extLst>
          </p:cNvPr>
          <p:cNvSpPr txBox="1"/>
          <p:nvPr/>
        </p:nvSpPr>
        <p:spPr>
          <a:xfrm>
            <a:off x="7747000" y="3898900"/>
            <a:ext cx="393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Techniques that actually move the needle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05A3AE4-7291-664D-A924-91780E608A6F}"/>
              </a:ext>
            </a:extLst>
          </p:cNvPr>
          <p:cNvSpPr/>
          <p:nvPr/>
        </p:nvSpPr>
        <p:spPr>
          <a:xfrm>
            <a:off x="4572000" y="4737100"/>
            <a:ext cx="152400" cy="152400"/>
          </a:xfrm>
          <a:prstGeom prst="ellipse">
            <a:avLst/>
          </a:prstGeom>
          <a:solidFill>
            <a:srgbClr val="D930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33426E-B265-DE43-8009-065DFF4993F0}"/>
              </a:ext>
            </a:extLst>
          </p:cNvPr>
          <p:cNvSpPr txBox="1"/>
          <p:nvPr/>
        </p:nvSpPr>
        <p:spPr>
          <a:xfrm>
            <a:off x="4889500" y="4635500"/>
            <a:ext cx="279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LangChain &amp; RAG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D03B24-FF3C-BE4D-BF86-A86F2BF5D672}"/>
              </a:ext>
            </a:extLst>
          </p:cNvPr>
          <p:cNvSpPr txBox="1"/>
          <p:nvPr/>
        </p:nvSpPr>
        <p:spPr>
          <a:xfrm>
            <a:off x="7747000" y="4660900"/>
            <a:ext cx="393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Retrieval-augmented generation in practice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C84DF75-B8DB-E165-46A6-9BA0B6112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0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58A6C8-89B0-5A49-9406-D5252DDFB9EB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52A7B-70B5-A847-8018-DEC4519811FF}"/>
              </a:ext>
            </a:extLst>
          </p:cNvPr>
          <p:cNvSpPr txBox="1"/>
          <p:nvPr/>
        </p:nvSpPr>
        <p:spPr>
          <a:xfrm>
            <a:off x="635000" y="21590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Montserrat"/>
              </a:rPr>
              <a:t>WEEK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DDC4C-5BF2-BA42-AFFA-A6CCDE624A01}"/>
              </a:ext>
            </a:extLst>
          </p:cNvPr>
          <p:cNvSpPr txBox="1"/>
          <p:nvPr/>
        </p:nvSpPr>
        <p:spPr>
          <a:xfrm>
            <a:off x="635000" y="2794000"/>
            <a:ext cx="2794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A640C1-FAA9-BD49-9788-A2273FF022B3}"/>
              </a:ext>
            </a:extLst>
          </p:cNvPr>
          <p:cNvSpPr txBox="1"/>
          <p:nvPr/>
        </p:nvSpPr>
        <p:spPr>
          <a:xfrm>
            <a:off x="4572000" y="1016000"/>
            <a:ext cx="711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1A1A1A"/>
                </a:solidFill>
                <a:latin typeface="Montserrat"/>
              </a:rPr>
              <a:t>Advanced RAG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065A08-7022-4F4E-AD3F-A5CC02199A68}"/>
              </a:ext>
            </a:extLst>
          </p:cNvPr>
          <p:cNvSpPr txBox="1"/>
          <p:nvPr/>
        </p:nvSpPr>
        <p:spPr>
          <a:xfrm>
            <a:off x="4572000" y="1676400"/>
            <a:ext cx="711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D9303F"/>
                </a:solidFill>
              </a:rPr>
              <a:t>Production-grade retrieval and safety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7C4C251-189C-664D-B328-0B724B62ACD8}"/>
              </a:ext>
            </a:extLst>
          </p:cNvPr>
          <p:cNvSpPr/>
          <p:nvPr/>
        </p:nvSpPr>
        <p:spPr>
          <a:xfrm>
            <a:off x="4572000" y="2832100"/>
            <a:ext cx="152400" cy="152400"/>
          </a:xfrm>
          <a:prstGeom prst="ellipse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4E0E0C-0C2B-0C49-BD00-AA06D07C81A3}"/>
              </a:ext>
            </a:extLst>
          </p:cNvPr>
          <p:cNvSpPr txBox="1"/>
          <p:nvPr/>
        </p:nvSpPr>
        <p:spPr>
          <a:xfrm>
            <a:off x="4889500" y="27305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Knowledge Graph RAG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4F3233-F31C-D643-9E3A-12F0FD7263E3}"/>
              </a:ext>
            </a:extLst>
          </p:cNvPr>
          <p:cNvSpPr txBox="1"/>
          <p:nvPr/>
        </p:nvSpPr>
        <p:spPr>
          <a:xfrm>
            <a:off x="8001000" y="2755900"/>
            <a:ext cx="368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Structured retrieval beyond vector search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3457E7C-6B5A-E547-AA77-8117F5071B64}"/>
              </a:ext>
            </a:extLst>
          </p:cNvPr>
          <p:cNvSpPr/>
          <p:nvPr/>
        </p:nvSpPr>
        <p:spPr>
          <a:xfrm>
            <a:off x="4572000" y="3657600"/>
            <a:ext cx="152400" cy="152400"/>
          </a:xfrm>
          <a:prstGeom prst="ellipse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D11E2B-5B28-1F48-8906-AE55B0A1DDE8}"/>
              </a:ext>
            </a:extLst>
          </p:cNvPr>
          <p:cNvSpPr txBox="1"/>
          <p:nvPr/>
        </p:nvSpPr>
        <p:spPr>
          <a:xfrm>
            <a:off x="4889500" y="35560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Guardrails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C4E321-D945-7844-A491-944FEA7DE7F2}"/>
              </a:ext>
            </a:extLst>
          </p:cNvPr>
          <p:cNvSpPr txBox="1"/>
          <p:nvPr/>
        </p:nvSpPr>
        <p:spPr>
          <a:xfrm>
            <a:off x="8001000" y="3581400"/>
            <a:ext cx="368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Safety, validation and trust layers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EFCC40-CEDA-6341-B5E8-0A04DA2D9F31}"/>
              </a:ext>
            </a:extLst>
          </p:cNvPr>
          <p:cNvSpPr/>
          <p:nvPr/>
        </p:nvSpPr>
        <p:spPr>
          <a:xfrm>
            <a:off x="4572000" y="4483100"/>
            <a:ext cx="152400" cy="152400"/>
          </a:xfrm>
          <a:prstGeom prst="ellipse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141A98-C74A-7B4E-AEC4-BE31F93F711B}"/>
              </a:ext>
            </a:extLst>
          </p:cNvPr>
          <p:cNvSpPr txBox="1"/>
          <p:nvPr/>
        </p:nvSpPr>
        <p:spPr>
          <a:xfrm>
            <a:off x="4889500" y="43815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Assignment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077331-CEB0-7D46-AE21-02E562C79C0C}"/>
              </a:ext>
            </a:extLst>
          </p:cNvPr>
          <p:cNvSpPr txBox="1"/>
          <p:nvPr/>
        </p:nvSpPr>
        <p:spPr>
          <a:xfrm>
            <a:off x="8001000" y="4406900"/>
            <a:ext cx="368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Apply the full RAG stack on a real problem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B7DA7CC-8D78-05AA-6371-D93C4462A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185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AC5D29-E5F1-9E4A-A208-D10127FA698B}"/>
              </a:ext>
            </a:extLst>
          </p:cNvPr>
          <p:cNvSpPr txBox="1"/>
          <p:nvPr/>
        </p:nvSpPr>
        <p:spPr>
          <a:xfrm>
            <a:off x="762000" y="16510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11E2F"/>
                </a:solidFill>
                <a:latin typeface="Montserrat"/>
              </a:rPr>
              <a:t>OFFLINE INTENSIVE  ·  01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28332B2-33B5-F149-9C62-E3AA03CA1229}"/>
              </a:ext>
            </a:extLst>
          </p:cNvPr>
          <p:cNvSpPr/>
          <p:nvPr/>
        </p:nvSpPr>
        <p:spPr>
          <a:xfrm>
            <a:off x="4191000" y="2095500"/>
            <a:ext cx="3810000" cy="711200"/>
          </a:xfrm>
          <a:prstGeom prst="round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Montserrat"/>
              </a:rPr>
              <a:t>31 MAY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C46594-9EA5-3E41-90BA-A494CF271FE9}"/>
              </a:ext>
            </a:extLst>
          </p:cNvPr>
          <p:cNvSpPr txBox="1"/>
          <p:nvPr/>
        </p:nvSpPr>
        <p:spPr>
          <a:xfrm>
            <a:off x="762000" y="3111500"/>
            <a:ext cx="10668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1A1A1A"/>
                </a:solidFill>
                <a:latin typeface="Montserrat"/>
              </a:rPr>
              <a:t>GenAI Application Building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C578A3-356C-4241-A065-A3DD0D5F0AFB}"/>
              </a:ext>
            </a:extLst>
          </p:cNvPr>
          <p:cNvSpPr txBox="1"/>
          <p:nvPr/>
        </p:nvSpPr>
        <p:spPr>
          <a:xfrm>
            <a:off x="1651000" y="4254500"/>
            <a:ext cx="8890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4A4A4A"/>
                </a:solidFill>
              </a:rPr>
              <a:t>Full-day offline build session — take everything from the first three weeks and ship a working GenAI application.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E1336A3-309C-CB41-A43A-3732B81BBE14}"/>
              </a:ext>
            </a:extLst>
          </p:cNvPr>
          <p:cNvSpPr/>
          <p:nvPr/>
        </p:nvSpPr>
        <p:spPr>
          <a:xfrm>
            <a:off x="5715000" y="5461000"/>
            <a:ext cx="177800" cy="177800"/>
          </a:xfrm>
          <a:prstGeom prst="ellipse">
            <a:avLst/>
          </a:prstGeom>
          <a:solidFill>
            <a:srgbClr val="4A4A4A"/>
          </a:solidFill>
          <a:ln w="12700" cap="flat" cmpd="sng" algn="ctr">
            <a:solidFill>
              <a:srgbClr val="B11E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BEF8FAD-1CFF-764A-9CEF-C3C431D872F1}"/>
              </a:ext>
            </a:extLst>
          </p:cNvPr>
          <p:cNvSpPr/>
          <p:nvPr/>
        </p:nvSpPr>
        <p:spPr>
          <a:xfrm>
            <a:off x="6096000" y="5461000"/>
            <a:ext cx="177800" cy="177800"/>
          </a:xfrm>
          <a:prstGeom prst="ellipse">
            <a:avLst/>
          </a:prstGeom>
          <a:solidFill>
            <a:srgbClr val="B11E2F"/>
          </a:solidFill>
          <a:ln w="12700" cap="flat" cmpd="sng" algn="ctr">
            <a:solidFill>
              <a:srgbClr val="B11E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19DA851-AB0B-C748-9462-F2C2F3F7953E}"/>
              </a:ext>
            </a:extLst>
          </p:cNvPr>
          <p:cNvSpPr/>
          <p:nvPr/>
        </p:nvSpPr>
        <p:spPr>
          <a:xfrm>
            <a:off x="6477000" y="5461000"/>
            <a:ext cx="177800" cy="177800"/>
          </a:xfrm>
          <a:prstGeom prst="ellipse">
            <a:avLst/>
          </a:prstGeom>
          <a:solidFill>
            <a:srgbClr val="4A4A4A"/>
          </a:solidFill>
          <a:ln w="12700" cap="flat" cmpd="sng" algn="ctr">
            <a:solidFill>
              <a:srgbClr val="B11E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55E6B8-B6B6-FF32-9FCC-FEA60389A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372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F876FE-99F7-594B-BAEB-1DDBFBC1D38E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D930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8BD4F-98AC-CE4F-9B8E-8050D4D955BD}"/>
              </a:ext>
            </a:extLst>
          </p:cNvPr>
          <p:cNvSpPr txBox="1"/>
          <p:nvPr/>
        </p:nvSpPr>
        <p:spPr>
          <a:xfrm>
            <a:off x="635000" y="21590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Montserrat"/>
              </a:rPr>
              <a:t>WEEK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73DB76-E4B9-394C-96F3-71FD8DA3C68E}"/>
              </a:ext>
            </a:extLst>
          </p:cNvPr>
          <p:cNvSpPr txBox="1"/>
          <p:nvPr/>
        </p:nvSpPr>
        <p:spPr>
          <a:xfrm>
            <a:off x="635000" y="2794000"/>
            <a:ext cx="2794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486E5-6D8E-A741-A3C2-C225F0DEA851}"/>
              </a:ext>
            </a:extLst>
          </p:cNvPr>
          <p:cNvSpPr txBox="1"/>
          <p:nvPr/>
        </p:nvSpPr>
        <p:spPr>
          <a:xfrm>
            <a:off x="4572000" y="1016000"/>
            <a:ext cx="711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1A1A1A"/>
                </a:solidFill>
                <a:latin typeface="Montserrat"/>
              </a:rPr>
              <a:t>AI Agents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F4950C-2FBA-E24C-9BE3-BDE762C75801}"/>
              </a:ext>
            </a:extLst>
          </p:cNvPr>
          <p:cNvSpPr txBox="1"/>
          <p:nvPr/>
        </p:nvSpPr>
        <p:spPr>
          <a:xfrm>
            <a:off x="4572000" y="1676400"/>
            <a:ext cx="711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B11E2F"/>
                </a:solidFill>
              </a:rPr>
              <a:t>Move from prompts to autonomous workflows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7E17B4-88E5-8C48-ABB8-6389D57A5F54}"/>
              </a:ext>
            </a:extLst>
          </p:cNvPr>
          <p:cNvSpPr/>
          <p:nvPr/>
        </p:nvSpPr>
        <p:spPr>
          <a:xfrm>
            <a:off x="4572000" y="2451100"/>
            <a:ext cx="152400" cy="152400"/>
          </a:xfrm>
          <a:prstGeom prst="ellipse">
            <a:avLst/>
          </a:prstGeom>
          <a:solidFill>
            <a:srgbClr val="D930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4ED848-598F-7448-917E-6EF7A53EE08B}"/>
              </a:ext>
            </a:extLst>
          </p:cNvPr>
          <p:cNvSpPr txBox="1"/>
          <p:nvPr/>
        </p:nvSpPr>
        <p:spPr>
          <a:xfrm>
            <a:off x="4889500" y="2349500"/>
            <a:ext cx="279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AI Automation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EB7A19-F942-894E-A9A1-3CF4DB5A8C1E}"/>
              </a:ext>
            </a:extLst>
          </p:cNvPr>
          <p:cNvSpPr txBox="1"/>
          <p:nvPr/>
        </p:nvSpPr>
        <p:spPr>
          <a:xfrm>
            <a:off x="7747000" y="2374900"/>
            <a:ext cx="393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End-to-end automated pipelines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7580802-1BA6-9D4A-900C-2B35379B626A}"/>
              </a:ext>
            </a:extLst>
          </p:cNvPr>
          <p:cNvSpPr/>
          <p:nvPr/>
        </p:nvSpPr>
        <p:spPr>
          <a:xfrm>
            <a:off x="4572000" y="3213100"/>
            <a:ext cx="152400" cy="152400"/>
          </a:xfrm>
          <a:prstGeom prst="ellipse">
            <a:avLst/>
          </a:prstGeom>
          <a:solidFill>
            <a:srgbClr val="D930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43DB4E-7DF7-1146-A8C8-93FC1C45487C}"/>
              </a:ext>
            </a:extLst>
          </p:cNvPr>
          <p:cNvSpPr txBox="1"/>
          <p:nvPr/>
        </p:nvSpPr>
        <p:spPr>
          <a:xfrm>
            <a:off x="4889500" y="3111500"/>
            <a:ext cx="279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AI Agents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338B37-CC07-CD4F-BBBB-933730F90E23}"/>
              </a:ext>
            </a:extLst>
          </p:cNvPr>
          <p:cNvSpPr txBox="1"/>
          <p:nvPr/>
        </p:nvSpPr>
        <p:spPr>
          <a:xfrm>
            <a:off x="7747000" y="3136900"/>
            <a:ext cx="393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Goal-driven, tool-using systems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C0B7783-DAC1-5447-B579-CF7A6DC9DA36}"/>
              </a:ext>
            </a:extLst>
          </p:cNvPr>
          <p:cNvSpPr/>
          <p:nvPr/>
        </p:nvSpPr>
        <p:spPr>
          <a:xfrm>
            <a:off x="4572000" y="3975100"/>
            <a:ext cx="152400" cy="152400"/>
          </a:xfrm>
          <a:prstGeom prst="ellipse">
            <a:avLst/>
          </a:prstGeom>
          <a:solidFill>
            <a:srgbClr val="D930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25AE74-F4F9-9747-8083-D19D3FCE6F8D}"/>
              </a:ext>
            </a:extLst>
          </p:cNvPr>
          <p:cNvSpPr txBox="1"/>
          <p:nvPr/>
        </p:nvSpPr>
        <p:spPr>
          <a:xfrm>
            <a:off x="4889500" y="3873500"/>
            <a:ext cx="279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MCP Protocol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064283-0B5F-D644-B94D-55B76B56A6BD}"/>
              </a:ext>
            </a:extLst>
          </p:cNvPr>
          <p:cNvSpPr txBox="1"/>
          <p:nvPr/>
        </p:nvSpPr>
        <p:spPr>
          <a:xfrm>
            <a:off x="7747000" y="3898900"/>
            <a:ext cx="393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Model Context Protocol fundamentals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921E565-183C-A848-8F75-2C52511B02FA}"/>
              </a:ext>
            </a:extLst>
          </p:cNvPr>
          <p:cNvSpPr/>
          <p:nvPr/>
        </p:nvSpPr>
        <p:spPr>
          <a:xfrm>
            <a:off x="4572000" y="4737100"/>
            <a:ext cx="152400" cy="152400"/>
          </a:xfrm>
          <a:prstGeom prst="ellipse">
            <a:avLst/>
          </a:prstGeom>
          <a:solidFill>
            <a:srgbClr val="D930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825743-E069-4843-B6A8-DDD4295B2067}"/>
              </a:ext>
            </a:extLst>
          </p:cNvPr>
          <p:cNvSpPr txBox="1"/>
          <p:nvPr/>
        </p:nvSpPr>
        <p:spPr>
          <a:xfrm>
            <a:off x="4889500" y="4635500"/>
            <a:ext cx="279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No-Code Tools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B70725-7714-D141-886B-6A7D9C8A5993}"/>
              </a:ext>
            </a:extLst>
          </p:cNvPr>
          <p:cNvSpPr txBox="1"/>
          <p:nvPr/>
        </p:nvSpPr>
        <p:spPr>
          <a:xfrm>
            <a:off x="7747000" y="4660900"/>
            <a:ext cx="3937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Build agents without writing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692C885-25AA-44DA-A277-E03ED61E3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785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15B399-CC9E-D840-8156-8FE04B730F3B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AB9AD-86EF-C647-96D1-D332C9B72741}"/>
              </a:ext>
            </a:extLst>
          </p:cNvPr>
          <p:cNvSpPr txBox="1"/>
          <p:nvPr/>
        </p:nvSpPr>
        <p:spPr>
          <a:xfrm>
            <a:off x="635000" y="21590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Montserrat"/>
              </a:rPr>
              <a:t>WEEK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76346-C801-1042-B0AA-B25D43C2C147}"/>
              </a:ext>
            </a:extLst>
          </p:cNvPr>
          <p:cNvSpPr txBox="1"/>
          <p:nvPr/>
        </p:nvSpPr>
        <p:spPr>
          <a:xfrm>
            <a:off x="635000" y="2794000"/>
            <a:ext cx="2794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6CE7D6-4EB3-E94D-91D4-1D12E38FE3F0}"/>
              </a:ext>
            </a:extLst>
          </p:cNvPr>
          <p:cNvSpPr txBox="1"/>
          <p:nvPr/>
        </p:nvSpPr>
        <p:spPr>
          <a:xfrm>
            <a:off x="4572000" y="1016000"/>
            <a:ext cx="711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1A1A1A"/>
                </a:solidFill>
                <a:latin typeface="Montserrat"/>
              </a:rPr>
              <a:t>Voice &amp; Agentic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2F4EAB-3CAA-8241-966B-9CCCE13C7362}"/>
              </a:ext>
            </a:extLst>
          </p:cNvPr>
          <p:cNvSpPr txBox="1"/>
          <p:nvPr/>
        </p:nvSpPr>
        <p:spPr>
          <a:xfrm>
            <a:off x="4572000" y="1676400"/>
            <a:ext cx="711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B11E2F"/>
                </a:solidFill>
              </a:rPr>
              <a:t>Real-time voice and multi-agent systems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80473B-E69E-1742-8EDE-C2734E59AFBC}"/>
              </a:ext>
            </a:extLst>
          </p:cNvPr>
          <p:cNvSpPr/>
          <p:nvPr/>
        </p:nvSpPr>
        <p:spPr>
          <a:xfrm>
            <a:off x="4572000" y="2832100"/>
            <a:ext cx="152400" cy="152400"/>
          </a:xfrm>
          <a:prstGeom prst="ellipse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A2BE2C-EF72-364E-9832-70D027FA3C3F}"/>
              </a:ext>
            </a:extLst>
          </p:cNvPr>
          <p:cNvSpPr txBox="1"/>
          <p:nvPr/>
        </p:nvSpPr>
        <p:spPr>
          <a:xfrm>
            <a:off x="4889500" y="27305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LiveKit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9A0AAE-C96F-D84E-846C-C11834B0FEF1}"/>
              </a:ext>
            </a:extLst>
          </p:cNvPr>
          <p:cNvSpPr txBox="1"/>
          <p:nvPr/>
        </p:nvSpPr>
        <p:spPr>
          <a:xfrm>
            <a:off x="8001000" y="2755900"/>
            <a:ext cx="368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Build a real-time voice assistant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AEE369F-C78A-CD48-8C16-94D27A09D1DB}"/>
              </a:ext>
            </a:extLst>
          </p:cNvPr>
          <p:cNvSpPr/>
          <p:nvPr/>
        </p:nvSpPr>
        <p:spPr>
          <a:xfrm>
            <a:off x="4572000" y="3657600"/>
            <a:ext cx="152400" cy="152400"/>
          </a:xfrm>
          <a:prstGeom prst="ellipse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B2AFC3-22DA-974F-9A57-6615AE0FF101}"/>
              </a:ext>
            </a:extLst>
          </p:cNvPr>
          <p:cNvSpPr txBox="1"/>
          <p:nvPr/>
        </p:nvSpPr>
        <p:spPr>
          <a:xfrm>
            <a:off x="4889500" y="35560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Autogen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B1C66E-D7A6-2E45-9E9C-EEE30E0C24E9}"/>
              </a:ext>
            </a:extLst>
          </p:cNvPr>
          <p:cNvSpPr txBox="1"/>
          <p:nvPr/>
        </p:nvSpPr>
        <p:spPr>
          <a:xfrm>
            <a:off x="8001000" y="3581400"/>
            <a:ext cx="368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Microsoft's agentic AI framework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4595C9-C0DD-2843-81CC-A5E5C2FB7113}"/>
              </a:ext>
            </a:extLst>
          </p:cNvPr>
          <p:cNvSpPr/>
          <p:nvPr/>
        </p:nvSpPr>
        <p:spPr>
          <a:xfrm>
            <a:off x="4572000" y="4483100"/>
            <a:ext cx="152400" cy="152400"/>
          </a:xfrm>
          <a:prstGeom prst="ellipse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4E864C-E0F3-5E4F-AE18-D06BD6E13ABA}"/>
              </a:ext>
            </a:extLst>
          </p:cNvPr>
          <p:cNvSpPr txBox="1"/>
          <p:nvPr/>
        </p:nvSpPr>
        <p:spPr>
          <a:xfrm>
            <a:off x="4889500" y="43815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1A1A1A"/>
                </a:solidFill>
                <a:latin typeface="Montserrat"/>
              </a:rPr>
              <a:t>Multi-Agent Patterns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620C9A-9407-0048-8DE0-E60C36A011D3}"/>
              </a:ext>
            </a:extLst>
          </p:cNvPr>
          <p:cNvSpPr txBox="1"/>
          <p:nvPr/>
        </p:nvSpPr>
        <p:spPr>
          <a:xfrm>
            <a:off x="8001000" y="4406900"/>
            <a:ext cx="368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</a:rPr>
              <a:t>Coordinating specialised agents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154583-C4DA-BD83-F0F7-5BDA66DB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92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589441-2777-EF46-AA9A-C0EFDD71401A}"/>
              </a:ext>
            </a:extLst>
          </p:cNvPr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D930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28DD12-172B-014C-A405-AA6FE5B1DC8C}"/>
              </a:ext>
            </a:extLst>
          </p:cNvPr>
          <p:cNvSpPr txBox="1"/>
          <p:nvPr/>
        </p:nvSpPr>
        <p:spPr>
          <a:xfrm>
            <a:off x="635000" y="21590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Montserrat"/>
              </a:rPr>
              <a:t>WEEK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3F4F8-4E79-5C4F-ABF8-CA01C66D20D7}"/>
              </a:ext>
            </a:extLst>
          </p:cNvPr>
          <p:cNvSpPr txBox="1"/>
          <p:nvPr/>
        </p:nvSpPr>
        <p:spPr>
          <a:xfrm>
            <a:off x="635000" y="2794000"/>
            <a:ext cx="2794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D03AB1-44B4-F14B-A63B-26AE1BA54C3A}"/>
              </a:ext>
            </a:extLst>
          </p:cNvPr>
          <p:cNvSpPr txBox="1"/>
          <p:nvPr/>
        </p:nvSpPr>
        <p:spPr>
          <a:xfrm>
            <a:off x="4572000" y="1079500"/>
            <a:ext cx="711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1A1A1A"/>
                </a:solidFill>
                <a:latin typeface="Montserrat"/>
              </a:rPr>
              <a:t>Production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E00F2-F21C-9142-A624-4D6D6DA08F3A}"/>
              </a:ext>
            </a:extLst>
          </p:cNvPr>
          <p:cNvSpPr txBox="1"/>
          <p:nvPr/>
        </p:nvSpPr>
        <p:spPr>
          <a:xfrm>
            <a:off x="4572000" y="1714500"/>
            <a:ext cx="711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11E2F"/>
                </a:solidFill>
              </a:rPr>
              <a:t>Custom models and full agentic deployment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B923676-1BE5-0942-A270-183CBE0EF83A}"/>
              </a:ext>
            </a:extLst>
          </p:cNvPr>
          <p:cNvSpPr/>
          <p:nvPr/>
        </p:nvSpPr>
        <p:spPr>
          <a:xfrm>
            <a:off x="4572000" y="2768600"/>
            <a:ext cx="127000" cy="127000"/>
          </a:xfrm>
          <a:prstGeom prst="ellipse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8A9A53-5E1C-424A-81EF-52FDC0093DB1}"/>
              </a:ext>
            </a:extLst>
          </p:cNvPr>
          <p:cNvSpPr txBox="1"/>
          <p:nvPr/>
        </p:nvSpPr>
        <p:spPr>
          <a:xfrm>
            <a:off x="4826000" y="2603500"/>
            <a:ext cx="685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1A1A1A"/>
                </a:solidFill>
                <a:latin typeface="Montserrat"/>
              </a:rPr>
              <a:t>Fine-Tuning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33D007-7915-9042-88FC-4961984CAD46}"/>
              </a:ext>
            </a:extLst>
          </p:cNvPr>
          <p:cNvSpPr txBox="1"/>
          <p:nvPr/>
        </p:nvSpPr>
        <p:spPr>
          <a:xfrm>
            <a:off x="4826000" y="2984500"/>
            <a:ext cx="685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A4A"/>
                </a:solidFill>
              </a:rPr>
              <a:t>Train custom models on your own data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507C1-393C-CB42-841A-7B650D5A9AF0}"/>
              </a:ext>
            </a:extLst>
          </p:cNvPr>
          <p:cNvSpPr/>
          <p:nvPr/>
        </p:nvSpPr>
        <p:spPr>
          <a:xfrm>
            <a:off x="4572000" y="3911600"/>
            <a:ext cx="127000" cy="127000"/>
          </a:xfrm>
          <a:prstGeom prst="ellipse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183605-BF7F-1946-9233-C1E63A425280}"/>
              </a:ext>
            </a:extLst>
          </p:cNvPr>
          <p:cNvSpPr txBox="1"/>
          <p:nvPr/>
        </p:nvSpPr>
        <p:spPr>
          <a:xfrm>
            <a:off x="4826000" y="3746500"/>
            <a:ext cx="685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1A1A1A"/>
                </a:solidFill>
                <a:latin typeface="Montserrat"/>
              </a:rPr>
              <a:t>Openclaw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B439B6-D94C-2B48-A18F-FEB46A91042A}"/>
              </a:ext>
            </a:extLst>
          </p:cNvPr>
          <p:cNvSpPr txBox="1"/>
          <p:nvPr/>
        </p:nvSpPr>
        <p:spPr>
          <a:xfrm>
            <a:off x="4826000" y="4127500"/>
            <a:ext cx="685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A4A"/>
                </a:solidFill>
              </a:rPr>
              <a:t>Agentic setup, end-to-end deployment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77C0627-AD9D-A795-EACA-0EEE37408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024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387A86-1E88-0145-B5D0-13AC78D528BF}"/>
              </a:ext>
            </a:extLst>
          </p:cNvPr>
          <p:cNvSpPr txBox="1"/>
          <p:nvPr/>
        </p:nvSpPr>
        <p:spPr>
          <a:xfrm>
            <a:off x="762000" y="16510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11E2F"/>
                </a:solidFill>
                <a:latin typeface="Montserrat"/>
              </a:rPr>
              <a:t>OFFLINE INTENSIVE  ·  02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802C318-117A-B34C-9FAD-FD18A4097811}"/>
              </a:ext>
            </a:extLst>
          </p:cNvPr>
          <p:cNvSpPr/>
          <p:nvPr/>
        </p:nvSpPr>
        <p:spPr>
          <a:xfrm>
            <a:off x="4191000" y="2095500"/>
            <a:ext cx="3810000" cy="711200"/>
          </a:xfrm>
          <a:prstGeom prst="roundRect">
            <a:avLst/>
          </a:prstGeom>
          <a:solidFill>
            <a:srgbClr val="D930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Montserrat"/>
              </a:rPr>
              <a:t>20 JUNE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DBDB9-D11C-2847-BF32-C6BF9E4DD2AF}"/>
              </a:ext>
            </a:extLst>
          </p:cNvPr>
          <p:cNvSpPr txBox="1"/>
          <p:nvPr/>
        </p:nvSpPr>
        <p:spPr>
          <a:xfrm>
            <a:off x="508000" y="3111500"/>
            <a:ext cx="11176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1A1A1A"/>
                </a:solidFill>
                <a:latin typeface="Montserrat"/>
              </a:rPr>
              <a:t>MicroSaaS Build with Claude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0EBFD-1D9D-1B47-BE2D-B9E7970B7EA9}"/>
              </a:ext>
            </a:extLst>
          </p:cNvPr>
          <p:cNvSpPr txBox="1"/>
          <p:nvPr/>
        </p:nvSpPr>
        <p:spPr>
          <a:xfrm>
            <a:off x="1651000" y="4254500"/>
            <a:ext cx="8890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4A4A4A"/>
                </a:solidFill>
              </a:rPr>
              <a:t>Capstone day — design, build and ship a complete MicroSaaS product end-to-end using Claude Code.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09148F-0BB3-B441-A41D-23E53C5E9003}"/>
              </a:ext>
            </a:extLst>
          </p:cNvPr>
          <p:cNvSpPr/>
          <p:nvPr/>
        </p:nvSpPr>
        <p:spPr>
          <a:xfrm>
            <a:off x="5715000" y="5461000"/>
            <a:ext cx="177800" cy="177800"/>
          </a:xfrm>
          <a:prstGeom prst="ellipse">
            <a:avLst/>
          </a:prstGeom>
          <a:solidFill>
            <a:srgbClr val="4A4A4A"/>
          </a:solidFill>
          <a:ln w="12700" cap="flat" cmpd="sng" algn="ctr">
            <a:solidFill>
              <a:srgbClr val="9B5D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DB330D-5789-C545-B42E-42D3B6A18B1C}"/>
              </a:ext>
            </a:extLst>
          </p:cNvPr>
          <p:cNvSpPr/>
          <p:nvPr/>
        </p:nvSpPr>
        <p:spPr>
          <a:xfrm>
            <a:off x="6096000" y="5461000"/>
            <a:ext cx="177800" cy="177800"/>
          </a:xfrm>
          <a:prstGeom prst="ellipse">
            <a:avLst/>
          </a:prstGeom>
          <a:solidFill>
            <a:srgbClr val="4A4A4A"/>
          </a:solidFill>
          <a:ln w="12700" cap="flat" cmpd="sng" algn="ctr">
            <a:solidFill>
              <a:srgbClr val="9B5D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E59C81E-B71F-0540-8C3A-E1D128CA4A09}"/>
              </a:ext>
            </a:extLst>
          </p:cNvPr>
          <p:cNvSpPr/>
          <p:nvPr/>
        </p:nvSpPr>
        <p:spPr>
          <a:xfrm>
            <a:off x="6477000" y="5461000"/>
            <a:ext cx="177800" cy="177800"/>
          </a:xfrm>
          <a:prstGeom prst="ellipse">
            <a:avLst/>
          </a:prstGeom>
          <a:solidFill>
            <a:srgbClr val="D9303F"/>
          </a:solidFill>
          <a:ln w="12700" cap="flat" cmpd="sng" algn="ctr">
            <a:solidFill>
              <a:srgbClr val="9B5D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D18F9B-6995-E922-7418-1F55628BF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74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D26430-C043-AB42-ABB0-850E61B0E860}"/>
              </a:ext>
            </a:extLst>
          </p:cNvPr>
          <p:cNvSpPr txBox="1"/>
          <p:nvPr/>
        </p:nvSpPr>
        <p:spPr>
          <a:xfrm>
            <a:off x="762000" y="25400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1A1A"/>
                </a:solidFill>
                <a:latin typeface="Montserrat"/>
              </a:rPr>
              <a:t>THE NEXT 6 WEEKS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2ACAE4-8B01-8042-886B-624EA8186670}"/>
              </a:ext>
            </a:extLst>
          </p:cNvPr>
          <p:cNvSpPr txBox="1"/>
          <p:nvPr/>
        </p:nvSpPr>
        <p:spPr>
          <a:xfrm>
            <a:off x="762000" y="3048000"/>
            <a:ext cx="10668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600" b="1">
                <a:solidFill>
                  <a:srgbClr val="1A1A1A"/>
                </a:solidFill>
                <a:latin typeface="Montserrat"/>
              </a:rPr>
              <a:t>Rules of Engagement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8C74D2-E272-A642-A8DD-3998B7E03D3A}"/>
              </a:ext>
            </a:extLst>
          </p:cNvPr>
          <p:cNvSpPr txBox="1"/>
          <p:nvPr/>
        </p:nvSpPr>
        <p:spPr>
          <a:xfrm>
            <a:off x="762000" y="41275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1A1A1A"/>
                </a:solidFill>
              </a:rPr>
              <a:t>How we show up, every single day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31BB91-18C8-7B44-900C-F67396E06B16}"/>
              </a:ext>
            </a:extLst>
          </p:cNvPr>
          <p:cNvSpPr/>
          <p:nvPr/>
        </p:nvSpPr>
        <p:spPr>
          <a:xfrm>
            <a:off x="5461000" y="4826000"/>
            <a:ext cx="1270000" cy="508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F3699A-C982-D8D6-25F0-1BD531731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13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446250-7835-E44C-ABB3-BFF384CBEAC0}"/>
              </a:ext>
            </a:extLst>
          </p:cNvPr>
          <p:cNvSpPr txBox="1"/>
          <p:nvPr/>
        </p:nvSpPr>
        <p:spPr>
          <a:xfrm>
            <a:off x="508000" y="2032000"/>
            <a:ext cx="3556000" cy="3048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8000" b="1">
                <a:solidFill>
                  <a:srgbClr val="B11E2F"/>
                </a:solidFill>
                <a:latin typeface="Montserrat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3A91E8-9FDB-0D48-A07F-2E65642576CF}"/>
              </a:ext>
            </a:extLst>
          </p:cNvPr>
          <p:cNvSpPr/>
          <p:nvPr/>
        </p:nvSpPr>
        <p:spPr>
          <a:xfrm>
            <a:off x="4191000" y="2032000"/>
            <a:ext cx="38100" cy="27940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D8D98-2106-6F48-B13C-E490B3742DD6}"/>
              </a:ext>
            </a:extLst>
          </p:cNvPr>
          <p:cNvSpPr txBox="1"/>
          <p:nvPr/>
        </p:nvSpPr>
        <p:spPr>
          <a:xfrm>
            <a:off x="4635500" y="1968500"/>
            <a:ext cx="685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11E2F"/>
                </a:solidFill>
                <a:latin typeface="Montserrat"/>
              </a:rPr>
              <a:t>DAILY MORNING SYNC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6F126-1728-E745-8FB8-B5DC150CBB1E}"/>
              </a:ext>
            </a:extLst>
          </p:cNvPr>
          <p:cNvSpPr txBox="1"/>
          <p:nvPr/>
        </p:nvSpPr>
        <p:spPr>
          <a:xfrm>
            <a:off x="4635500" y="2349500"/>
            <a:ext cx="70485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1A1A1A"/>
                </a:solidFill>
                <a:latin typeface="Montserrat"/>
              </a:rPr>
              <a:t>Show up at 6:30 AM.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5C15F4-024F-EE41-AEA6-FC3931EB68FD}"/>
              </a:ext>
            </a:extLst>
          </p:cNvPr>
          <p:cNvSpPr txBox="1"/>
          <p:nvPr/>
        </p:nvSpPr>
        <p:spPr>
          <a:xfrm>
            <a:off x="4635500" y="3746500"/>
            <a:ext cx="7048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4A4A4A"/>
                </a:solidFill>
              </a:rPr>
              <a:t>Daily syncope call — every single morning. This is how the day starts.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D21B0F-F8F6-D2BF-8E80-1B15630A0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758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AF61EF-C9C0-9744-AFC7-64D8F69C1C62}"/>
              </a:ext>
            </a:extLst>
          </p:cNvPr>
          <p:cNvSpPr txBox="1"/>
          <p:nvPr/>
        </p:nvSpPr>
        <p:spPr>
          <a:xfrm>
            <a:off x="508000" y="2032000"/>
            <a:ext cx="3556000" cy="3048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8000" b="1">
                <a:solidFill>
                  <a:srgbClr val="B11E2F"/>
                </a:solidFill>
                <a:latin typeface="Montserrat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41CDB5-B1F2-0349-B082-438DBD9003AB}"/>
              </a:ext>
            </a:extLst>
          </p:cNvPr>
          <p:cNvSpPr/>
          <p:nvPr/>
        </p:nvSpPr>
        <p:spPr>
          <a:xfrm>
            <a:off x="4191000" y="2032000"/>
            <a:ext cx="38100" cy="2794000"/>
          </a:xfrm>
          <a:prstGeom prst="rect">
            <a:avLst/>
          </a:prstGeom>
          <a:solidFill>
            <a:srgbClr val="D930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42CF20-8673-5248-816F-95D3CCCEF199}"/>
              </a:ext>
            </a:extLst>
          </p:cNvPr>
          <p:cNvSpPr txBox="1"/>
          <p:nvPr/>
        </p:nvSpPr>
        <p:spPr>
          <a:xfrm>
            <a:off x="4635500" y="1968500"/>
            <a:ext cx="685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11E2F"/>
                </a:solidFill>
                <a:latin typeface="Montserrat"/>
              </a:rPr>
              <a:t>WEEKEND DCS / BATTLE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19DCC6-CC5F-6B4B-A649-C91B360AAF12}"/>
              </a:ext>
            </a:extLst>
          </p:cNvPr>
          <p:cNvSpPr txBox="1"/>
          <p:nvPr/>
        </p:nvSpPr>
        <p:spPr>
          <a:xfrm>
            <a:off x="4635500" y="2349500"/>
            <a:ext cx="70485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1A1A1A"/>
                </a:solidFill>
                <a:latin typeface="Montserrat"/>
              </a:rPr>
              <a:t>Saturdays, 8–9 AM.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B8DD52-7F39-6C46-B87C-E02C35CC176E}"/>
              </a:ext>
            </a:extLst>
          </p:cNvPr>
          <p:cNvSpPr txBox="1"/>
          <p:nvPr/>
        </p:nvSpPr>
        <p:spPr>
          <a:xfrm>
            <a:off x="4635500" y="3746500"/>
            <a:ext cx="7048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4A4A4A"/>
                </a:solidFill>
              </a:rPr>
              <a:t>Weekend deep collaborative session — pressure-test what you learned all week.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1DEC24-A3E3-C022-9C60-1FFFC8804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142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1E48B2-5C66-A74B-ABEE-D761B7100269}"/>
              </a:ext>
            </a:extLst>
          </p:cNvPr>
          <p:cNvSpPr txBox="1"/>
          <p:nvPr/>
        </p:nvSpPr>
        <p:spPr>
          <a:xfrm>
            <a:off x="508000" y="2032000"/>
            <a:ext cx="3556000" cy="3048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8000" b="1">
                <a:solidFill>
                  <a:srgbClr val="B11E2F"/>
                </a:solidFill>
                <a:latin typeface="Montserrat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10CF6A-2BDA-804A-A01A-11B3CD6A70DD}"/>
              </a:ext>
            </a:extLst>
          </p:cNvPr>
          <p:cNvSpPr/>
          <p:nvPr/>
        </p:nvSpPr>
        <p:spPr>
          <a:xfrm>
            <a:off x="4191000" y="2032000"/>
            <a:ext cx="38100" cy="27940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3B884-A314-D242-97F6-33CBB601C5D7}"/>
              </a:ext>
            </a:extLst>
          </p:cNvPr>
          <p:cNvSpPr txBox="1"/>
          <p:nvPr/>
        </p:nvSpPr>
        <p:spPr>
          <a:xfrm>
            <a:off x="4635500" y="1968500"/>
            <a:ext cx="685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11E2F"/>
                </a:solidFill>
                <a:latin typeface="Montserrat"/>
              </a:rPr>
              <a:t>APPLIED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F2F5A-5029-3B4C-9E47-EE52B3F35D8B}"/>
              </a:ext>
            </a:extLst>
          </p:cNvPr>
          <p:cNvSpPr txBox="1"/>
          <p:nvPr/>
        </p:nvSpPr>
        <p:spPr>
          <a:xfrm>
            <a:off x="4635500" y="2349500"/>
            <a:ext cx="70485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1A1A1A"/>
                </a:solidFill>
                <a:latin typeface="Montserrat"/>
              </a:rPr>
              <a:t>3–4 hours, every day.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32BDC-9AC1-354B-840F-AEEF217AD7D4}"/>
              </a:ext>
            </a:extLst>
          </p:cNvPr>
          <p:cNvSpPr txBox="1"/>
          <p:nvPr/>
        </p:nvSpPr>
        <p:spPr>
          <a:xfrm>
            <a:off x="4635500" y="3746500"/>
            <a:ext cx="7048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4A4A4A"/>
                </a:solidFill>
              </a:rPr>
              <a:t>Daily focused practice — applying what you learn, not just consuming it.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125448-D738-BFCA-EE36-91775991C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181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1E48B2-5C66-A74B-ABEE-D761B7100269}"/>
              </a:ext>
            </a:extLst>
          </p:cNvPr>
          <p:cNvSpPr txBox="1"/>
          <p:nvPr/>
        </p:nvSpPr>
        <p:spPr>
          <a:xfrm>
            <a:off x="508000" y="2032000"/>
            <a:ext cx="3556000" cy="3048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8000" b="1">
                <a:solidFill>
                  <a:srgbClr val="B11E2F"/>
                </a:solidFill>
                <a:latin typeface="Montserrat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10CF6A-2BDA-804A-A01A-11B3CD6A70DD}"/>
              </a:ext>
            </a:extLst>
          </p:cNvPr>
          <p:cNvSpPr/>
          <p:nvPr/>
        </p:nvSpPr>
        <p:spPr>
          <a:xfrm>
            <a:off x="4191000" y="2032000"/>
            <a:ext cx="38100" cy="27940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43B884-A314-D242-97F6-33CBB601C5D7}"/>
              </a:ext>
            </a:extLst>
          </p:cNvPr>
          <p:cNvSpPr txBox="1"/>
          <p:nvPr/>
        </p:nvSpPr>
        <p:spPr>
          <a:xfrm>
            <a:off x="4635500" y="1968500"/>
            <a:ext cx="685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11E2F"/>
                </a:solidFill>
                <a:latin typeface="Montserrat"/>
              </a:rPr>
              <a:t>RULE 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F2F5A-5029-3B4C-9E47-EE52B3F35D8B}"/>
              </a:ext>
            </a:extLst>
          </p:cNvPr>
          <p:cNvSpPr txBox="1"/>
          <p:nvPr/>
        </p:nvSpPr>
        <p:spPr>
          <a:xfrm>
            <a:off x="4635500" y="2349500"/>
            <a:ext cx="70485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1A1A1A"/>
                </a:solidFill>
                <a:latin typeface="Montserrat"/>
              </a:rPr>
              <a:t>Workbook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C32BDC-9AC1-354B-840F-AEEF217AD7D4}"/>
              </a:ext>
            </a:extLst>
          </p:cNvPr>
          <p:cNvSpPr txBox="1"/>
          <p:nvPr/>
        </p:nvSpPr>
        <p:spPr>
          <a:xfrm>
            <a:off x="4635500" y="3746500"/>
            <a:ext cx="70485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800">
                <a:solidFill>
                  <a:srgbClr val="4A4A4A"/>
                </a:solidFill>
              </a:rPr>
              <a:t>Structured workbook to capture notes, exercises, and reflections — your personal record of the program.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125448-D738-BFCA-EE36-91775991C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9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D632EA-F300-AA4D-9AE1-3E77602871C3}"/>
              </a:ext>
            </a:extLst>
          </p:cNvPr>
          <p:cNvSpPr txBox="1"/>
          <p:nvPr/>
        </p:nvSpPr>
        <p:spPr>
          <a:xfrm>
            <a:off x="508000" y="2032000"/>
            <a:ext cx="3556000" cy="3048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8000" b="1">
                <a:solidFill>
                  <a:srgbClr val="B11E2F"/>
                </a:solidFill>
                <a:latin typeface="Montserrat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E78A4-61DE-BE48-9883-D6AD821065B5}"/>
              </a:ext>
            </a:extLst>
          </p:cNvPr>
          <p:cNvSpPr/>
          <p:nvPr/>
        </p:nvSpPr>
        <p:spPr>
          <a:xfrm>
            <a:off x="4191000" y="2032000"/>
            <a:ext cx="38100" cy="2794000"/>
          </a:xfrm>
          <a:prstGeom prst="rect">
            <a:avLst/>
          </a:prstGeom>
          <a:solidFill>
            <a:srgbClr val="D930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0C14D3-F71B-BB42-8443-E69E32C76304}"/>
              </a:ext>
            </a:extLst>
          </p:cNvPr>
          <p:cNvSpPr txBox="1"/>
          <p:nvPr/>
        </p:nvSpPr>
        <p:spPr>
          <a:xfrm>
            <a:off x="4635500" y="1968500"/>
            <a:ext cx="685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11E2F"/>
                </a:solidFill>
                <a:latin typeface="Montserrat"/>
              </a:rPr>
              <a:t>FULL ACCESS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D36885-340B-E340-A9FB-9E17966347DC}"/>
              </a:ext>
            </a:extLst>
          </p:cNvPr>
          <p:cNvSpPr txBox="1"/>
          <p:nvPr/>
        </p:nvSpPr>
        <p:spPr>
          <a:xfrm>
            <a:off x="4635500" y="2349500"/>
            <a:ext cx="70485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1A1A1A"/>
                </a:solidFill>
                <a:latin typeface="Montserrat"/>
              </a:rPr>
              <a:t>All 6 weeks unlocked
on Day 1.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7FA9EA-24AE-CB4A-918A-697D601C4405}"/>
              </a:ext>
            </a:extLst>
          </p:cNvPr>
          <p:cNvSpPr txBox="1"/>
          <p:nvPr/>
        </p:nvSpPr>
        <p:spPr>
          <a:xfrm>
            <a:off x="4635500" y="3746500"/>
            <a:ext cx="7048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4A4A4A"/>
                </a:solidFill>
              </a:rPr>
              <a:t>The complete course is enabled from the moment you start — work ahead, revisit anytime.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0AE13C-7C45-2F06-9831-C4A9BBBDE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35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EDABC0-2341-9543-986A-2D9E49B4D9D1}"/>
              </a:ext>
            </a:extLst>
          </p:cNvPr>
          <p:cNvSpPr txBox="1"/>
          <p:nvPr/>
        </p:nvSpPr>
        <p:spPr>
          <a:xfrm>
            <a:off x="508000" y="2032000"/>
            <a:ext cx="3556000" cy="3048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8000" b="1">
                <a:solidFill>
                  <a:srgbClr val="B11E2F"/>
                </a:solidFill>
                <a:latin typeface="Montserrat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93ECA0-176A-A449-AC15-90BF366E0CDB}"/>
              </a:ext>
            </a:extLst>
          </p:cNvPr>
          <p:cNvSpPr/>
          <p:nvPr/>
        </p:nvSpPr>
        <p:spPr>
          <a:xfrm>
            <a:off x="4191000" y="2032000"/>
            <a:ext cx="38100" cy="27940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58FF26-1C72-C94A-A9B8-24E2614C19B5}"/>
              </a:ext>
            </a:extLst>
          </p:cNvPr>
          <p:cNvSpPr txBox="1"/>
          <p:nvPr/>
        </p:nvSpPr>
        <p:spPr>
          <a:xfrm>
            <a:off x="4635500" y="1968500"/>
            <a:ext cx="685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11E2F"/>
                </a:solidFill>
                <a:latin typeface="Montserrat"/>
              </a:rPr>
              <a:t>ASSIGNMENTS &amp; PROJECTS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CAF22-617C-2A41-886E-43FB9BE0D0A2}"/>
              </a:ext>
            </a:extLst>
          </p:cNvPr>
          <p:cNvSpPr txBox="1"/>
          <p:nvPr/>
        </p:nvSpPr>
        <p:spPr>
          <a:xfrm>
            <a:off x="4635500" y="2349500"/>
            <a:ext cx="70485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1A1A1A"/>
                </a:solidFill>
                <a:latin typeface="Montserrat"/>
              </a:rPr>
              <a:t>Push to GitHub.
Submit via the form.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DA65B-8C8A-6840-9F2F-DDC48DA00A89}"/>
              </a:ext>
            </a:extLst>
          </p:cNvPr>
          <p:cNvSpPr txBox="1"/>
          <p:nvPr/>
        </p:nvSpPr>
        <p:spPr>
          <a:xfrm>
            <a:off x="4635500" y="3746500"/>
            <a:ext cx="7048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4A4A4A"/>
                </a:solidFill>
              </a:rPr>
              <a:t>Every assignment lives in your repo. Submission link goes through the form so we track it.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530950-3081-BB61-6099-BD24FC7AB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3BCFC1-BC01-9A46-82AF-9474B221D8ED}"/>
              </a:ext>
            </a:extLst>
          </p:cNvPr>
          <p:cNvSpPr txBox="1"/>
          <p:nvPr/>
        </p:nvSpPr>
        <p:spPr>
          <a:xfrm>
            <a:off x="508000" y="2032000"/>
            <a:ext cx="3556000" cy="3048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8000" b="1">
                <a:solidFill>
                  <a:srgbClr val="B11E2F"/>
                </a:solidFill>
                <a:latin typeface="Montserrat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27FE2C-A4F1-A342-BBCF-1A7D82DDC3F7}"/>
              </a:ext>
            </a:extLst>
          </p:cNvPr>
          <p:cNvSpPr/>
          <p:nvPr/>
        </p:nvSpPr>
        <p:spPr>
          <a:xfrm>
            <a:off x="4191000" y="2032000"/>
            <a:ext cx="38100" cy="2794000"/>
          </a:xfrm>
          <a:prstGeom prst="rect">
            <a:avLst/>
          </a:prstGeom>
          <a:solidFill>
            <a:srgbClr val="D9303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D9B4C6-3375-EA4B-9FE0-53026D617E2C}"/>
              </a:ext>
            </a:extLst>
          </p:cNvPr>
          <p:cNvSpPr txBox="1"/>
          <p:nvPr/>
        </p:nvSpPr>
        <p:spPr>
          <a:xfrm>
            <a:off x="4635500" y="1968500"/>
            <a:ext cx="685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11E2F"/>
                </a:solidFill>
                <a:latin typeface="Montserrat"/>
              </a:rPr>
              <a:t>DOUBT RESOLUTION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D5CD95-442C-834B-BDF1-537A7E5FC181}"/>
              </a:ext>
            </a:extLst>
          </p:cNvPr>
          <p:cNvSpPr txBox="1"/>
          <p:nvPr/>
        </p:nvSpPr>
        <p:spPr>
          <a:xfrm>
            <a:off x="4635500" y="2349500"/>
            <a:ext cx="70485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1A1A1A"/>
                </a:solidFill>
                <a:latin typeface="Montserrat"/>
              </a:rPr>
              <a:t>Every doubt cleared by EOD.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45F4A2-B255-9F4B-9FC6-E321D72D1967}"/>
              </a:ext>
            </a:extLst>
          </p:cNvPr>
          <p:cNvSpPr txBox="1"/>
          <p:nvPr/>
        </p:nvSpPr>
        <p:spPr>
          <a:xfrm>
            <a:off x="4635500" y="3746500"/>
            <a:ext cx="7048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4A4A4A"/>
                </a:solidFill>
              </a:rPr>
              <a:t>Fill the form → it creates a ticket on our side → we close it the same day. No question left hanging.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CB5CEE-53B8-C1D7-F8D8-46AD7A61C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505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FBC88E-2976-954D-9D48-B24FB64CD3BA}"/>
              </a:ext>
            </a:extLst>
          </p:cNvPr>
          <p:cNvSpPr txBox="1"/>
          <p:nvPr/>
        </p:nvSpPr>
        <p:spPr>
          <a:xfrm>
            <a:off x="508000" y="2032000"/>
            <a:ext cx="3556000" cy="3048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8000" b="1">
                <a:solidFill>
                  <a:srgbClr val="B11E2F"/>
                </a:solidFill>
                <a:latin typeface="Montserrat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0B3939-4A2A-0643-A6BB-6CEFC1D324A1}"/>
              </a:ext>
            </a:extLst>
          </p:cNvPr>
          <p:cNvSpPr/>
          <p:nvPr/>
        </p:nvSpPr>
        <p:spPr>
          <a:xfrm>
            <a:off x="4191000" y="2032000"/>
            <a:ext cx="38100" cy="27940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F114FC-BB01-574D-A859-1A29971CCF96}"/>
              </a:ext>
            </a:extLst>
          </p:cNvPr>
          <p:cNvSpPr txBox="1"/>
          <p:nvPr/>
        </p:nvSpPr>
        <p:spPr>
          <a:xfrm>
            <a:off x="4635500" y="1968500"/>
            <a:ext cx="685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11E2F"/>
                </a:solidFill>
                <a:latin typeface="Montserrat"/>
              </a:rPr>
              <a:t>MOTIVATION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B0F3F-D38F-A544-B854-CBA7981E7BA4}"/>
              </a:ext>
            </a:extLst>
          </p:cNvPr>
          <p:cNvSpPr txBox="1"/>
          <p:nvPr/>
        </p:nvSpPr>
        <p:spPr>
          <a:xfrm>
            <a:off x="4635500" y="2349500"/>
            <a:ext cx="70485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1A1A1A"/>
                </a:solidFill>
                <a:latin typeface="Montserrat"/>
              </a:rPr>
              <a:t>Awards &amp; Certificates.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74B1DA-B3EA-D140-9FDB-7751510E3461}"/>
              </a:ext>
            </a:extLst>
          </p:cNvPr>
          <p:cNvSpPr txBox="1"/>
          <p:nvPr/>
        </p:nvSpPr>
        <p:spPr>
          <a:xfrm>
            <a:off x="4635500" y="3746500"/>
            <a:ext cx="70485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4A4A4A"/>
                </a:solidFill>
              </a:rPr>
              <a:t>Recognition for top performers throughout the program — and a certificate when you ship.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69BF4D-7EBC-C52D-F810-E21E3D013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01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635A39-C877-EE44-93ED-0CF704F6F7F8}"/>
              </a:ext>
            </a:extLst>
          </p:cNvPr>
          <p:cNvSpPr txBox="1"/>
          <p:nvPr/>
        </p:nvSpPr>
        <p:spPr>
          <a:xfrm>
            <a:off x="762000" y="19050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B11E2F"/>
                </a:solidFill>
                <a:latin typeface="Montserrat"/>
              </a:rPr>
              <a:t>LET'S BUILD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4033C1-1123-2348-826A-1D7CAF0EED90}"/>
              </a:ext>
            </a:extLst>
          </p:cNvPr>
          <p:cNvSpPr txBox="1"/>
          <p:nvPr/>
        </p:nvSpPr>
        <p:spPr>
          <a:xfrm>
            <a:off x="762000" y="2476500"/>
            <a:ext cx="10668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600" b="1">
                <a:solidFill>
                  <a:srgbClr val="1A1A1A"/>
                </a:solidFill>
                <a:latin typeface="Montserrat"/>
              </a:rPr>
              <a:t>See you at 6:30 AM.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03704E-86A8-AA44-A73C-B26C841EB81B}"/>
              </a:ext>
            </a:extLst>
          </p:cNvPr>
          <p:cNvSpPr txBox="1"/>
          <p:nvPr/>
        </p:nvSpPr>
        <p:spPr>
          <a:xfrm>
            <a:off x="762000" y="45720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i="1">
                <a:solidFill>
                  <a:srgbClr val="4A4A4A"/>
                </a:solidFill>
              </a:rPr>
              <a:t>Social Eagle  ·  6-Week GenAI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8A92E3-284B-4847-BFA4-3D1D6015FDE9}"/>
              </a:ext>
            </a:extLst>
          </p:cNvPr>
          <p:cNvSpPr/>
          <p:nvPr/>
        </p:nvSpPr>
        <p:spPr>
          <a:xfrm>
            <a:off x="5461000" y="5207000"/>
            <a:ext cx="1270000" cy="50800"/>
          </a:xfrm>
          <a:prstGeom prst="rect">
            <a:avLst/>
          </a:prstGeom>
          <a:solidFill>
            <a:srgbClr val="B11E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3D6E15-2E4E-AE8E-E083-33D4ABBA3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0" y="152400"/>
            <a:ext cx="762000" cy="73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18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405151091]">
  <a:themeElements>
    <a:clrScheme name="Office">
      <a:dk1>
        <a:srgbClr val="1A1A1A"/>
      </a:dk1>
      <a:lt1>
        <a:srgbClr val="FFFFFF"/>
      </a:lt1>
      <a:dk2>
        <a:srgbClr val="4A4A4A"/>
      </a:dk2>
      <a:lt2>
        <a:srgbClr val="F5F2F0"/>
      </a:lt2>
      <a:accent1>
        <a:srgbClr val="B11E2F"/>
      </a:accent1>
      <a:accent2>
        <a:srgbClr val="D9303F"/>
      </a:accent2>
      <a:accent3>
        <a:srgbClr val="7A1420"/>
      </a:accent3>
      <a:accent4>
        <a:srgbClr val="E8B4B8"/>
      </a:accent4>
      <a:accent5>
        <a:srgbClr val="1A1A1A"/>
      </a:accent5>
      <a:accent6>
        <a:srgbClr val="8A8A8A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9125220-3F35-5C47-BFBA-85A0AFB5CA2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4eb29f6-aaff-48b3-8a26-782384d8864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612</Words>
  <Application>Microsoft Macintosh PowerPoint</Application>
  <PresentationFormat>Widescreen</PresentationFormat>
  <Paragraphs>153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Montserrat</vt:lpstr>
      <vt:lpstr>Open Sans</vt:lpstr>
      <vt:lpstr>Office Theme [1778405151091]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Shatheeshram Ganapathy</dc:creator>
  <cp:lastModifiedBy>Shatheeshram Ganapathy</cp:lastModifiedBy>
  <cp:revision>3</cp:revision>
  <dcterms:created xsi:type="dcterms:W3CDTF">2026-05-10T08:20:39Z</dcterms:created>
  <dcterms:modified xsi:type="dcterms:W3CDTF">2026-05-10T15:15:11Z</dcterms:modified>
</cp:coreProperties>
</file>